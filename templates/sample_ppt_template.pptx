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3" r:id="rId2"/>
    <p:sldId id="270" r:id="rId3"/>
    <p:sldId id="279" r:id="rId4"/>
    <p:sldId id="280" r:id="rId5"/>
    <p:sldId id="27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etha  Akkala" userId="29270fab-d501-4f7b-a920-3b1278439804" providerId="ADAL" clId="{17097428-0DAC-400A-9866-F07FECCE981B}"/>
    <pc:docChg chg="undo custSel modSld">
      <pc:chgData name="Swetha  Akkala" userId="29270fab-d501-4f7b-a920-3b1278439804" providerId="ADAL" clId="{17097428-0DAC-400A-9866-F07FECCE981B}" dt="2026-02-11T15:06:05.758" v="84" actId="208"/>
      <pc:docMkLst>
        <pc:docMk/>
      </pc:docMkLst>
      <pc:sldChg chg="modSp mod">
        <pc:chgData name="Swetha  Akkala" userId="29270fab-d501-4f7b-a920-3b1278439804" providerId="ADAL" clId="{17097428-0DAC-400A-9866-F07FECCE981B}" dt="2026-02-11T15:06:05.758" v="84" actId="208"/>
        <pc:sldMkLst>
          <pc:docMk/>
          <pc:sldMk cId="2663611645" sldId="263"/>
        </pc:sldMkLst>
        <pc:spChg chg="mod">
          <ac:chgData name="Swetha  Akkala" userId="29270fab-d501-4f7b-a920-3b1278439804" providerId="ADAL" clId="{17097428-0DAC-400A-9866-F07FECCE981B}" dt="2026-02-11T15:06:05.758" v="84" actId="208"/>
          <ac:spMkLst>
            <pc:docMk/>
            <pc:sldMk cId="2663611645" sldId="263"/>
            <ac:spMk id="5" creationId="{00000000-0000-0000-0000-000000000000}"/>
          </ac:spMkLst>
        </pc:spChg>
        <pc:spChg chg="mod">
          <ac:chgData name="Swetha  Akkala" userId="29270fab-d501-4f7b-a920-3b1278439804" providerId="ADAL" clId="{17097428-0DAC-400A-9866-F07FECCE981B}" dt="2026-02-11T15:06:05.758" v="84" actId="208"/>
          <ac:spMkLst>
            <pc:docMk/>
            <pc:sldMk cId="2663611645" sldId="263"/>
            <ac:spMk id="7" creationId="{DFFA6C3A-1489-8B4F-A83F-028609D5F052}"/>
          </ac:spMkLst>
        </pc:spChg>
        <pc:spChg chg="mod">
          <ac:chgData name="Swetha  Akkala" userId="29270fab-d501-4f7b-a920-3b1278439804" providerId="ADAL" clId="{17097428-0DAC-400A-9866-F07FECCE981B}" dt="2026-02-11T15:06:05.758" v="84" actId="208"/>
          <ac:spMkLst>
            <pc:docMk/>
            <pc:sldMk cId="2663611645" sldId="263"/>
            <ac:spMk id="10" creationId="{120A1E06-2121-84D8-8A75-138438476A5A}"/>
          </ac:spMkLst>
        </pc:spChg>
        <pc:spChg chg="mod">
          <ac:chgData name="Swetha  Akkala" userId="29270fab-d501-4f7b-a920-3b1278439804" providerId="ADAL" clId="{17097428-0DAC-400A-9866-F07FECCE981B}" dt="2026-02-11T15:06:05.758" v="84" actId="208"/>
          <ac:spMkLst>
            <pc:docMk/>
            <pc:sldMk cId="2663611645" sldId="263"/>
            <ac:spMk id="16" creationId="{F4243315-F4CA-C185-99AF-A0AEEDA89C38}"/>
          </ac:spMkLst>
        </pc:spChg>
      </pc:sldChg>
      <pc:sldChg chg="modSp mod">
        <pc:chgData name="Swetha  Akkala" userId="29270fab-d501-4f7b-a920-3b1278439804" providerId="ADAL" clId="{17097428-0DAC-400A-9866-F07FECCE981B}" dt="2026-02-11T15:00:41.857" v="75" actId="108"/>
        <pc:sldMkLst>
          <pc:docMk/>
          <pc:sldMk cId="4121649048" sldId="270"/>
        </pc:sldMkLst>
        <pc:spChg chg="mod">
          <ac:chgData name="Swetha  Akkala" userId="29270fab-d501-4f7b-a920-3b1278439804" providerId="ADAL" clId="{17097428-0DAC-400A-9866-F07FECCE981B}" dt="2026-02-11T15:00:41.857" v="75" actId="108"/>
          <ac:spMkLst>
            <pc:docMk/>
            <pc:sldMk cId="4121649048" sldId="270"/>
            <ac:spMk id="11" creationId="{1381C02B-7633-3969-A15A-1467F0D1213B}"/>
          </ac:spMkLst>
        </pc:spChg>
      </pc:sldChg>
      <pc:sldChg chg="modSp mod">
        <pc:chgData name="Swetha  Akkala" userId="29270fab-d501-4f7b-a920-3b1278439804" providerId="ADAL" clId="{17097428-0DAC-400A-9866-F07FECCE981B}" dt="2026-02-11T14:59:39.496" v="66" actId="20577"/>
        <pc:sldMkLst>
          <pc:docMk/>
          <pc:sldMk cId="648717608" sldId="271"/>
        </pc:sldMkLst>
        <pc:spChg chg="mod">
          <ac:chgData name="Swetha  Akkala" userId="29270fab-d501-4f7b-a920-3b1278439804" providerId="ADAL" clId="{17097428-0DAC-400A-9866-F07FECCE981B}" dt="2026-02-11T14:59:39.496" v="66" actId="20577"/>
          <ac:spMkLst>
            <pc:docMk/>
            <pc:sldMk cId="648717608" sldId="271"/>
            <ac:spMk id="11" creationId="{D8323F5C-39A1-9D33-A961-82D37EBD9A6B}"/>
          </ac:spMkLst>
        </pc:spChg>
      </pc:sldChg>
      <pc:sldChg chg="modSp mod">
        <pc:chgData name="Swetha  Akkala" userId="29270fab-d501-4f7b-a920-3b1278439804" providerId="ADAL" clId="{17097428-0DAC-400A-9866-F07FECCE981B}" dt="2026-02-11T14:59:56.105" v="70" actId="6549"/>
        <pc:sldMkLst>
          <pc:docMk/>
          <pc:sldMk cId="805950796" sldId="272"/>
        </pc:sldMkLst>
        <pc:spChg chg="mod">
          <ac:chgData name="Swetha  Akkala" userId="29270fab-d501-4f7b-a920-3b1278439804" providerId="ADAL" clId="{17097428-0DAC-400A-9866-F07FECCE981B}" dt="2026-02-11T14:59:56.105" v="70" actId="6549"/>
          <ac:spMkLst>
            <pc:docMk/>
            <pc:sldMk cId="805950796" sldId="272"/>
            <ac:spMk id="11" creationId="{C0DBFA1B-D25D-D84D-F693-39645FDCE4DE}"/>
          </ac:spMkLst>
        </pc:spChg>
      </pc:sldChg>
      <pc:sldChg chg="modSp mod">
        <pc:chgData name="Swetha  Akkala" userId="29270fab-d501-4f7b-a920-3b1278439804" providerId="ADAL" clId="{17097428-0DAC-400A-9866-F07FECCE981B}" dt="2026-02-11T15:00:02.525" v="71" actId="20577"/>
        <pc:sldMkLst>
          <pc:docMk/>
          <pc:sldMk cId="1816062349" sldId="273"/>
        </pc:sldMkLst>
        <pc:spChg chg="mod">
          <ac:chgData name="Swetha  Akkala" userId="29270fab-d501-4f7b-a920-3b1278439804" providerId="ADAL" clId="{17097428-0DAC-400A-9866-F07FECCE981B}" dt="2026-02-11T15:00:02.525" v="71" actId="20577"/>
          <ac:spMkLst>
            <pc:docMk/>
            <pc:sldMk cId="1816062349" sldId="273"/>
            <ac:spMk id="11" creationId="{5B6841F3-EE42-62A4-E730-5C5DD6C5042B}"/>
          </ac:spMkLst>
        </pc:spChg>
      </pc:sldChg>
      <pc:sldChg chg="modSp mod">
        <pc:chgData name="Swetha  Akkala" userId="29270fab-d501-4f7b-a920-3b1278439804" providerId="ADAL" clId="{17097428-0DAC-400A-9866-F07FECCE981B}" dt="2026-02-11T15:00:08.086" v="72" actId="20577"/>
        <pc:sldMkLst>
          <pc:docMk/>
          <pc:sldMk cId="1407599107" sldId="274"/>
        </pc:sldMkLst>
        <pc:spChg chg="mod">
          <ac:chgData name="Swetha  Akkala" userId="29270fab-d501-4f7b-a920-3b1278439804" providerId="ADAL" clId="{17097428-0DAC-400A-9866-F07FECCE981B}" dt="2026-02-11T15:00:08.086" v="72" actId="20577"/>
          <ac:spMkLst>
            <pc:docMk/>
            <pc:sldMk cId="1407599107" sldId="274"/>
            <ac:spMk id="11" creationId="{A401934D-905F-324B-9C99-DCEA3E134CC1}"/>
          </ac:spMkLst>
        </pc:spChg>
      </pc:sldChg>
      <pc:sldChg chg="modSp mod">
        <pc:chgData name="Swetha  Akkala" userId="29270fab-d501-4f7b-a920-3b1278439804" providerId="ADAL" clId="{17097428-0DAC-400A-9866-F07FECCE981B}" dt="2026-02-11T14:56:53.277" v="27" actId="20577"/>
        <pc:sldMkLst>
          <pc:docMk/>
          <pc:sldMk cId="926711311" sldId="275"/>
        </pc:sldMkLst>
        <pc:spChg chg="mod">
          <ac:chgData name="Swetha  Akkala" userId="29270fab-d501-4f7b-a920-3b1278439804" providerId="ADAL" clId="{17097428-0DAC-400A-9866-F07FECCE981B}" dt="2026-02-11T14:56:53.277" v="27" actId="20577"/>
          <ac:spMkLst>
            <pc:docMk/>
            <pc:sldMk cId="926711311" sldId="275"/>
            <ac:spMk id="11" creationId="{EFF2B2A6-C3FC-1FFA-F104-2AB7E11CB6F4}"/>
          </ac:spMkLst>
        </pc:spChg>
      </pc:sldChg>
      <pc:sldChg chg="modSp mod">
        <pc:chgData name="Swetha  Akkala" userId="29270fab-d501-4f7b-a920-3b1278439804" providerId="ADAL" clId="{17097428-0DAC-400A-9866-F07FECCE981B}" dt="2026-02-11T14:56:40.726" v="25" actId="20577"/>
        <pc:sldMkLst>
          <pc:docMk/>
          <pc:sldMk cId="3146498507" sldId="276"/>
        </pc:sldMkLst>
        <pc:spChg chg="mod">
          <ac:chgData name="Swetha  Akkala" userId="29270fab-d501-4f7b-a920-3b1278439804" providerId="ADAL" clId="{17097428-0DAC-400A-9866-F07FECCE981B}" dt="2026-02-11T14:56:40.726" v="25" actId="20577"/>
          <ac:spMkLst>
            <pc:docMk/>
            <pc:sldMk cId="3146498507" sldId="276"/>
            <ac:spMk id="11" creationId="{CEC959A5-A1C1-02A7-3318-467F21764977}"/>
          </ac:spMkLst>
        </pc:spChg>
      </pc:sldChg>
      <pc:sldChg chg="modSp mod">
        <pc:chgData name="Swetha  Akkala" userId="29270fab-d501-4f7b-a920-3b1278439804" providerId="ADAL" clId="{17097428-0DAC-400A-9866-F07FECCE981B}" dt="2026-02-11T14:58:14.414" v="59" actId="255"/>
        <pc:sldMkLst>
          <pc:docMk/>
          <pc:sldMk cId="2977330921" sldId="277"/>
        </pc:sldMkLst>
        <pc:spChg chg="mod">
          <ac:chgData name="Swetha  Akkala" userId="29270fab-d501-4f7b-a920-3b1278439804" providerId="ADAL" clId="{17097428-0DAC-400A-9866-F07FECCE981B}" dt="2026-02-11T14:58:14.414" v="59" actId="255"/>
          <ac:spMkLst>
            <pc:docMk/>
            <pc:sldMk cId="2977330921" sldId="277"/>
            <ac:spMk id="11" creationId="{5C1D1234-F87E-33E0-0BD2-0D1863584470}"/>
          </ac:spMkLst>
        </pc:spChg>
      </pc:sldChg>
      <pc:sldChg chg="modSp mod">
        <pc:chgData name="Swetha  Akkala" userId="29270fab-d501-4f7b-a920-3b1278439804" providerId="ADAL" clId="{17097428-0DAC-400A-9866-F07FECCE981B}" dt="2026-02-11T14:56:25.326" v="21" actId="123"/>
        <pc:sldMkLst>
          <pc:docMk/>
          <pc:sldMk cId="88817511" sldId="278"/>
        </pc:sldMkLst>
        <pc:spChg chg="mod">
          <ac:chgData name="Swetha  Akkala" userId="29270fab-d501-4f7b-a920-3b1278439804" providerId="ADAL" clId="{17097428-0DAC-400A-9866-F07FECCE981B}" dt="2026-02-11T14:56:25.326" v="21" actId="123"/>
          <ac:spMkLst>
            <pc:docMk/>
            <pc:sldMk cId="88817511" sldId="278"/>
            <ac:spMk id="11" creationId="{B7FE0190-4CB5-2F4F-C984-D5C304ED4B0A}"/>
          </ac:spMkLst>
        </pc:spChg>
      </pc:sldChg>
      <pc:sldChg chg="modSp mod">
        <pc:chgData name="Swetha  Akkala" userId="29270fab-d501-4f7b-a920-3b1278439804" providerId="ADAL" clId="{17097428-0DAC-400A-9866-F07FECCE981B}" dt="2026-02-11T15:02:34.323" v="83" actId="255"/>
        <pc:sldMkLst>
          <pc:docMk/>
          <pc:sldMk cId="859413911" sldId="279"/>
        </pc:sldMkLst>
        <pc:spChg chg="mod">
          <ac:chgData name="Swetha  Akkala" userId="29270fab-d501-4f7b-a920-3b1278439804" providerId="ADAL" clId="{17097428-0DAC-400A-9866-F07FECCE981B}" dt="2026-02-11T15:02:02.166" v="81" actId="20577"/>
          <ac:spMkLst>
            <pc:docMk/>
            <pc:sldMk cId="859413911" sldId="279"/>
            <ac:spMk id="7" creationId="{6BAA8868-FDEB-212D-0E84-B1B339220F85}"/>
          </ac:spMkLst>
        </pc:spChg>
        <pc:spChg chg="mod">
          <ac:chgData name="Swetha  Akkala" userId="29270fab-d501-4f7b-a920-3b1278439804" providerId="ADAL" clId="{17097428-0DAC-400A-9866-F07FECCE981B}" dt="2026-02-11T15:00:24.435" v="74" actId="20577"/>
          <ac:spMkLst>
            <pc:docMk/>
            <pc:sldMk cId="859413911" sldId="279"/>
            <ac:spMk id="11" creationId="{3F56B683-987F-2AB2-3C43-65E5943B627C}"/>
          </ac:spMkLst>
        </pc:spChg>
        <pc:spChg chg="mod">
          <ac:chgData name="Swetha  Akkala" userId="29270fab-d501-4f7b-a920-3b1278439804" providerId="ADAL" clId="{17097428-0DAC-400A-9866-F07FECCE981B}" dt="2026-02-11T15:02:34.323" v="83" actId="255"/>
          <ac:spMkLst>
            <pc:docMk/>
            <pc:sldMk cId="859413911" sldId="279"/>
            <ac:spMk id="12" creationId="{FF5044C3-FB81-37EB-A51F-BF41E9D309C6}"/>
          </ac:spMkLst>
        </pc:spChg>
      </pc:sldChg>
      <pc:sldChg chg="modSp mod">
        <pc:chgData name="Swetha  Akkala" userId="29270fab-d501-4f7b-a920-3b1278439804" providerId="ADAL" clId="{17097428-0DAC-400A-9866-F07FECCE981B}" dt="2026-02-11T14:56:20.029" v="20" actId="123"/>
        <pc:sldMkLst>
          <pc:docMk/>
          <pc:sldMk cId="2512149221" sldId="280"/>
        </pc:sldMkLst>
        <pc:spChg chg="mod">
          <ac:chgData name="Swetha  Akkala" userId="29270fab-d501-4f7b-a920-3b1278439804" providerId="ADAL" clId="{17097428-0DAC-400A-9866-F07FECCE981B}" dt="2026-02-11T14:56:20.029" v="20" actId="123"/>
          <ac:spMkLst>
            <pc:docMk/>
            <pc:sldMk cId="2512149221" sldId="280"/>
            <ac:spMk id="11" creationId="{5195D475-D617-D7E2-0AAE-F20B3E7BBCA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0DDB01-B6F6-4D19-B7EB-82B79169DABA}"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81C110-5E53-4DE7-B91B-A84D7659A2DC}" type="slidenum">
              <a:rPr lang="en-IN" smtClean="0"/>
              <a:t>‹#›</a:t>
            </a:fld>
            <a:endParaRPr lang="en-IN"/>
          </a:p>
        </p:txBody>
      </p:sp>
    </p:spTree>
    <p:extLst>
      <p:ext uri="{BB962C8B-B14F-4D97-AF65-F5344CB8AC3E}">
        <p14:creationId xmlns:p14="http://schemas.microsoft.com/office/powerpoint/2010/main" val="87945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81C110-5E53-4DE7-B91B-A84D7659A2DC}" type="slidenum">
              <a:rPr lang="en-IN" smtClean="0"/>
              <a:t>4</a:t>
            </a:fld>
            <a:endParaRPr lang="en-IN"/>
          </a:p>
        </p:txBody>
      </p:sp>
    </p:spTree>
    <p:extLst>
      <p:ext uri="{BB962C8B-B14F-4D97-AF65-F5344CB8AC3E}">
        <p14:creationId xmlns:p14="http://schemas.microsoft.com/office/powerpoint/2010/main" val="98572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200C-1C9F-2353-D06F-A597647705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572B40-BFCB-36DA-BFAD-A4D5910977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DC05D3-3D5D-181B-5CD0-4ED9CFE296A1}"/>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6F531B94-01BD-FB42-FE9B-924C13FE05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DCE721-EF85-DCA7-DDE4-F8D47B58B993}"/>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244982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1009-263A-D5AA-A114-A94BCE102D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DBBBD2-C47B-CACD-C219-2AFC012EA9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0ACC3-737D-00C2-E4DC-AC16B360BC60}"/>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0E55CF0D-88AD-5DEE-6FB5-359EAC7EC5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91F8F6-6372-8CD6-4011-107F66252673}"/>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3997365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E251-0306-8A15-9A75-5062BBB139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E3BCB3-3B6B-FC7C-D12C-94F50529C8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FE52DF-3950-9012-6EAD-3DCAB38EE1D6}"/>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ED1FD37A-739A-2C82-3A73-241695040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6F1F18-C221-C2C7-5A06-4BD3CCB31FDA}"/>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3117535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A1E9-0E96-BB96-A9C0-4CD975D630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6CD4C3-65FB-C3CE-FAD1-60FE741546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7D9663-D13B-95B5-709A-B6314CDD04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35DAE7-DFAA-E694-628F-4B81B1F3615A}"/>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6" name="Footer Placeholder 5">
            <a:extLst>
              <a:ext uri="{FF2B5EF4-FFF2-40B4-BE49-F238E27FC236}">
                <a16:creationId xmlns:a16="http://schemas.microsoft.com/office/drawing/2014/main" id="{2DB0995F-5419-0020-2E71-B166CF958C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728015-5D99-2AF2-DE8F-918A282D2150}"/>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3960702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2FFB-43EE-2D4C-F6F2-27FF893194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86FF5C-53A8-A0A8-FE70-BB846BDAB3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87F75F-684D-1C03-7AF5-686823EF69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B30230-FD12-541A-4ACB-C46D9073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B0461-FA09-193B-7899-75CFFCA78C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A69EB4-186F-1986-414F-0F36A1E03228}"/>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8" name="Footer Placeholder 7">
            <a:extLst>
              <a:ext uri="{FF2B5EF4-FFF2-40B4-BE49-F238E27FC236}">
                <a16:creationId xmlns:a16="http://schemas.microsoft.com/office/drawing/2014/main" id="{E8831166-1AE5-758F-0BC9-51B7DCF12D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2017D5-4077-6DB3-F4E5-F436282B9844}"/>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1245098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A187-BA1F-5A66-D41C-045399F1E2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6BBC15-8A6B-A906-F36C-305F015C5DD6}"/>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4" name="Footer Placeholder 3">
            <a:extLst>
              <a:ext uri="{FF2B5EF4-FFF2-40B4-BE49-F238E27FC236}">
                <a16:creationId xmlns:a16="http://schemas.microsoft.com/office/drawing/2014/main" id="{4BB840E1-4ABA-B532-2560-54AD9F9F38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EC29E4-3F82-48C8-65BD-013A6040B86C}"/>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3051360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E9B087-2F71-5235-BCD6-B9FAC02D9241}"/>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3" name="Footer Placeholder 2">
            <a:extLst>
              <a:ext uri="{FF2B5EF4-FFF2-40B4-BE49-F238E27FC236}">
                <a16:creationId xmlns:a16="http://schemas.microsoft.com/office/drawing/2014/main" id="{375DEF13-660F-C7F4-6F38-CC71611399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E155A0-920B-1A4F-9023-00FA61583E58}"/>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935164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EB6E-EDA1-0D09-32DD-0607FC9CCE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4D4CAF-C6C8-512E-8A11-9799A2D1B1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01A034-5864-F703-07E8-EF35D5EF7A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95689-AD13-CC56-0B43-4B827B32F643}"/>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6" name="Footer Placeholder 5">
            <a:extLst>
              <a:ext uri="{FF2B5EF4-FFF2-40B4-BE49-F238E27FC236}">
                <a16:creationId xmlns:a16="http://schemas.microsoft.com/office/drawing/2014/main" id="{F5770105-0CEE-E963-3DB3-8FF498A87E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197655-D684-387A-FE51-99A891F4DDEE}"/>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190000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D1CA-CE47-698D-272F-DEA1CEBDE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2855C3-3668-C5C6-6205-45C9774299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E47528-F291-C4D6-4FAE-572644C7E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C2ADF-962B-ABEE-30EF-F29FC6FC736C}"/>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6" name="Footer Placeholder 5">
            <a:extLst>
              <a:ext uri="{FF2B5EF4-FFF2-40B4-BE49-F238E27FC236}">
                <a16:creationId xmlns:a16="http://schemas.microsoft.com/office/drawing/2014/main" id="{DDC41193-12E1-1D97-DFDD-512363FD3D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372786-A578-A3F4-511B-514C238F6895}"/>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2413405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822B-81E4-D993-F4A1-22935EE7BB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A7DBDE-5297-2349-A1A3-915E7D1628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5CA300-F839-1C46-1D08-8800AD2C6388}"/>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D1EC77B3-5726-32D7-5FD8-2BE476C114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54EDF3-AA95-1DC8-38D9-FFD251DF2152}"/>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408379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63E744-559F-2305-43C3-3457CBF299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E10DD4-E681-5029-D932-DE77CD0B84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F96ABB-0E7C-D656-17C1-44B682C1E232}"/>
              </a:ext>
            </a:extLst>
          </p:cNvPr>
          <p:cNvSpPr>
            <a:spLocks noGrp="1"/>
          </p:cNvSpPr>
          <p:nvPr>
            <p:ph type="dt" sz="half" idx="10"/>
          </p:nvPr>
        </p:nvSpPr>
        <p:spPr/>
        <p:txBody>
          <a:body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6B12652F-1CE5-2FC9-31C4-79D7ED9C0F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7F3250-5BA9-3545-0427-BC3FA91BD238}"/>
              </a:ext>
            </a:extLst>
          </p:cNvPr>
          <p:cNvSpPr>
            <a:spLocks noGrp="1"/>
          </p:cNvSpPr>
          <p:nvPr>
            <p:ph type="sldNum" sz="quarter" idx="12"/>
          </p:nvPr>
        </p:nvSpPr>
        <p:spPr/>
        <p:txBody>
          <a:bodyPr/>
          <a:lstStyle/>
          <a:p>
            <a:fld id="{3581AD73-6D98-41FA-957B-9FC4B68A6B65}" type="slidenum">
              <a:rPr lang="en-IN" smtClean="0"/>
              <a:t>‹#›</a:t>
            </a:fld>
            <a:endParaRPr lang="en-IN"/>
          </a:p>
        </p:txBody>
      </p:sp>
    </p:spTree>
    <p:extLst>
      <p:ext uri="{BB962C8B-B14F-4D97-AF65-F5344CB8AC3E}">
        <p14:creationId xmlns:p14="http://schemas.microsoft.com/office/powerpoint/2010/main" val="1251372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01F8A3-B9C7-F14E-8044-3767F24820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2C0B28-4BB4-3D9B-FAF6-ED74487A77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CA820D-7FDF-0004-6F33-AB8257500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56AD15-A154-4F8D-9983-D4D8643F4F81}" type="datetimeFigureOut">
              <a:rPr lang="en-IN" smtClean="0"/>
              <a:t>16-02-2026</a:t>
            </a:fld>
            <a:endParaRPr lang="en-IN"/>
          </a:p>
        </p:txBody>
      </p:sp>
      <p:sp>
        <p:nvSpPr>
          <p:cNvPr id="5" name="Footer Placeholder 4">
            <a:extLst>
              <a:ext uri="{FF2B5EF4-FFF2-40B4-BE49-F238E27FC236}">
                <a16:creationId xmlns:a16="http://schemas.microsoft.com/office/drawing/2014/main" id="{B1156B73-F74B-5844-4A07-44BF95D94D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C5307A3-CAB8-7332-4DBC-D206E4C29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81AD73-6D98-41FA-957B-9FC4B68A6B65}" type="slidenum">
              <a:rPr lang="en-IN" smtClean="0"/>
              <a:t>‹#›</a:t>
            </a:fld>
            <a:endParaRPr lang="en-IN"/>
          </a:p>
        </p:txBody>
      </p:sp>
    </p:spTree>
    <p:extLst>
      <p:ext uri="{BB962C8B-B14F-4D97-AF65-F5344CB8AC3E}">
        <p14:creationId xmlns:p14="http://schemas.microsoft.com/office/powerpoint/2010/main" val="2842103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16F6C6-7382-E2A1-EDFC-EA455F2A647E}"/>
              </a:ext>
            </a:extLst>
          </p:cNvPr>
          <p:cNvSpPr>
            <a:spLocks noGrp="1"/>
          </p:cNvSpPr>
          <p:nvPr>
            <p:ph type="sldNum" sz="quarter" idx="12"/>
          </p:nvPr>
        </p:nvSpPr>
        <p:spPr/>
        <p:txBody>
          <a:bodyPr/>
          <a:lstStyle/>
          <a:p>
            <a:fld id="{9FEF36EC-AB1E-4C9F-83A1-C938ECB7FC5C}" type="slidenum">
              <a:rPr lang="en-IN" sz="1400" smtClean="0"/>
              <a:t>1</a:t>
            </a:fld>
            <a:endParaRPr lang="en-IN" sz="1400"/>
          </a:p>
        </p:txBody>
      </p:sp>
      <p:sp>
        <p:nvSpPr>
          <p:cNvPr id="5" name="object 3"/>
          <p:cNvSpPr txBox="1"/>
          <p:nvPr/>
        </p:nvSpPr>
        <p:spPr>
          <a:xfrm>
            <a:off x="250371" y="430795"/>
            <a:ext cx="11658377" cy="2106346"/>
          </a:xfrm>
          <a:prstGeom prst="rect">
            <a:avLst/>
          </a:prstGeom>
          <a:solidFill>
            <a:schemeClr val="bg1"/>
          </a:solidFill>
          <a:ln w="9144">
            <a:solidFill>
              <a:schemeClr val="tx1"/>
            </a:solidFill>
          </a:ln>
        </p:spPr>
        <p:txBody>
          <a:bodyPr vert="horz" wrap="square" lIns="0" tIns="28575" rIns="0" bIns="0" rtlCol="0" anchor="t">
            <a:spAutoFit/>
          </a:bodyPr>
          <a:lstStyle>
            <a:defPPr>
              <a:defRPr lang="en-US"/>
            </a:defPPr>
            <a:lvl1pPr marL="374650" marR="83820" indent="-285750">
              <a:spcBef>
                <a:spcPts val="225"/>
              </a:spcBef>
              <a:buFont typeface="Arial" panose="020B0604020202020204" pitchFamily="34" charset="0"/>
              <a:buChar char="•"/>
              <a:defRPr sz="1600" spc="-5">
                <a:solidFill>
                  <a:srgbClr val="E7E6E6"/>
                </a:solidFill>
                <a:latin typeface="Calibri"/>
                <a:cs typeface="Calibri"/>
              </a:defRPr>
            </a:lvl1pPr>
          </a:lstStyle>
          <a:p>
            <a:pPr marL="88900" marR="0" indent="0">
              <a:spcBef>
                <a:spcPct val="0"/>
              </a:spcBef>
              <a:spcAft>
                <a:spcPct val="0"/>
              </a:spcAft>
              <a:buSzPts val="1150"/>
              <a:buNone/>
            </a:pP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Automation Test Engineer with 6+ years of experience in Software Quality Assurance, encompassing both Manual and Automation Testing for web applications. </a:t>
            </a:r>
          </a:p>
          <a:p>
            <a:pPr marL="88900" marR="0" indent="0">
              <a:spcBef>
                <a:spcPct val="0"/>
              </a:spcBef>
              <a:spcAft>
                <a:spcPct val="0"/>
              </a:spcAft>
              <a:buSzPts val="1150"/>
              <a:buNone/>
            </a:pP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Strong expertise in Selenium with Python and Playwright with Python, with hands-on experience in designing, developing, and maintaining scalable automation frameworks using </a:t>
            </a:r>
            <a:r>
              <a:rPr lang="en-US" sz="1500" dirty="0" err="1">
                <a:solidFill>
                  <a:schemeClr val="tx1"/>
                </a:solidFill>
                <a:latin typeface="Calibri" panose="020F0502020204030204" pitchFamily="34" charset="0"/>
                <a:ea typeface="Calibri" panose="020F0502020204030204" pitchFamily="34" charset="0"/>
                <a:cs typeface="Calibri" panose="020F0502020204030204" pitchFamily="34" charset="0"/>
              </a:rPr>
              <a:t>PyTest</a:t>
            </a: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 Robot Framework, and Page Object Model (POM). </a:t>
            </a:r>
          </a:p>
          <a:p>
            <a:pPr marL="88900" marR="0" indent="0">
              <a:spcBef>
                <a:spcPct val="0"/>
              </a:spcBef>
              <a:spcAft>
                <a:spcPct val="0"/>
              </a:spcAft>
              <a:buSzPts val="1150"/>
              <a:buNone/>
            </a:pP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Proficient in API testing using Postman and Python Requests, with exposure to CI/CD integration using Jenkins for continuous test execution. Possess solid programming skills in Python, including Object-Oriented Programming concepts, along with strong experience in writing XPath and CSS selectors for dynamic web elements. </a:t>
            </a:r>
          </a:p>
          <a:p>
            <a:pPr marL="88900" marR="0" indent="0">
              <a:spcBef>
                <a:spcPct val="0"/>
              </a:spcBef>
              <a:spcAft>
                <a:spcPct val="0"/>
              </a:spcAft>
              <a:buSzPts val="1150"/>
              <a:buNone/>
            </a:pP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Well-versed in SDLC, STLC, Defect Life Cycle, Agile methodologies, and defect management using JIRA, with additional knowledge of SQL, version control tools (Git, GitHub, GitLab, Bitbucket), and modern testing practices.  </a:t>
            </a:r>
          </a:p>
        </p:txBody>
      </p:sp>
      <p:sp>
        <p:nvSpPr>
          <p:cNvPr id="7" name="object 3">
            <a:extLst>
              <a:ext uri="{FF2B5EF4-FFF2-40B4-BE49-F238E27FC236}">
                <a16:creationId xmlns:a16="http://schemas.microsoft.com/office/drawing/2014/main" id="{DFFA6C3A-1489-8B4F-A83F-028609D5F052}"/>
              </a:ext>
            </a:extLst>
          </p:cNvPr>
          <p:cNvSpPr txBox="1"/>
          <p:nvPr/>
        </p:nvSpPr>
        <p:spPr>
          <a:xfrm>
            <a:off x="7620000" y="2935271"/>
            <a:ext cx="4288748" cy="244298"/>
          </a:xfrm>
          <a:prstGeom prst="rect">
            <a:avLst/>
          </a:prstGeom>
          <a:solidFill>
            <a:schemeClr val="bg1"/>
          </a:solidFill>
          <a:ln w="9144">
            <a:solidFill>
              <a:schemeClr val="tx1"/>
            </a:solidFill>
          </a:ln>
        </p:spPr>
        <p:txBody>
          <a:bodyPr vert="horz" wrap="square" lIns="0" tIns="28575" rIns="0" bIns="0" rtlCol="0" anchor="t">
            <a:spAutoFit/>
          </a:bodyPr>
          <a:lstStyle>
            <a:defPPr>
              <a:defRPr lang="en-US"/>
            </a:defPPr>
            <a:lvl1pPr marL="374650" marR="83820" indent="-285750">
              <a:spcBef>
                <a:spcPts val="225"/>
              </a:spcBef>
              <a:buFont typeface="Arial" panose="020B0604020202020204" pitchFamily="34" charset="0"/>
              <a:buChar char="•"/>
              <a:defRPr sz="1600" spc="-5">
                <a:solidFill>
                  <a:srgbClr val="E7E6E6"/>
                </a:solidFill>
                <a:latin typeface="Calibri"/>
                <a:cs typeface="Calibri"/>
              </a:defRPr>
            </a:lvl1pPr>
          </a:lstStyle>
          <a:p>
            <a:pPr marL="72390" indent="0">
              <a:spcBef>
                <a:spcPts val="133"/>
              </a:spcBef>
              <a:buNone/>
            </a:pP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B.E – SSN Engineering College (2019) </a:t>
            </a:r>
          </a:p>
        </p:txBody>
      </p:sp>
      <p:grpSp>
        <p:nvGrpSpPr>
          <p:cNvPr id="6" name="Group 5">
            <a:extLst>
              <a:ext uri="{FF2B5EF4-FFF2-40B4-BE49-F238E27FC236}">
                <a16:creationId xmlns:a16="http://schemas.microsoft.com/office/drawing/2014/main" id="{09BD34B3-6713-C0BA-48F5-B5176E0D7E9D}"/>
              </a:ext>
            </a:extLst>
          </p:cNvPr>
          <p:cNvGrpSpPr/>
          <p:nvPr/>
        </p:nvGrpSpPr>
        <p:grpSpPr>
          <a:xfrm>
            <a:off x="250371" y="2573171"/>
            <a:ext cx="5052866" cy="1256536"/>
            <a:chOff x="1044680" y="1990412"/>
            <a:chExt cx="4720266" cy="1440303"/>
          </a:xfrm>
        </p:grpSpPr>
        <p:sp>
          <p:nvSpPr>
            <p:cNvPr id="12" name="TextBox 11">
              <a:extLst>
                <a:ext uri="{FF2B5EF4-FFF2-40B4-BE49-F238E27FC236}">
                  <a16:creationId xmlns:a16="http://schemas.microsoft.com/office/drawing/2014/main" id="{201EAC12-9203-314D-D061-D5611DC3FF51}"/>
                </a:ext>
              </a:extLst>
            </p:cNvPr>
            <p:cNvSpPr txBox="1"/>
            <p:nvPr/>
          </p:nvSpPr>
          <p:spPr>
            <a:xfrm>
              <a:off x="1278571" y="3077926"/>
              <a:ext cx="4486375" cy="352789"/>
            </a:xfrm>
            <a:prstGeom prst="rect">
              <a:avLst/>
            </a:prstGeom>
            <a:noFill/>
          </p:spPr>
          <p:txBody>
            <a:bodyPr wrap="square">
              <a:spAutoFit/>
            </a:bodyPr>
            <a:lstStyle/>
            <a:p>
              <a:pPr marL="375285" indent="-285750">
                <a:spcBef>
                  <a:spcPts val="135"/>
                </a:spcBef>
                <a:buSzPct val="107142"/>
                <a:buFont typeface="Wingdings" panose="05000000000000000000" pitchFamily="2" charset="2"/>
                <a:buChar char="§"/>
                <a:tabLst>
                  <a:tab pos="377190" algn="l"/>
                  <a:tab pos="377825" algn="l"/>
                </a:tabLst>
              </a:pPr>
              <a:endParaRPr lang="en-IN" sz="1400" spc="-5" dirty="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5ACE243-F925-8646-4788-F202380DA32E}"/>
                </a:ext>
              </a:extLst>
            </p:cNvPr>
            <p:cNvSpPr txBox="1"/>
            <p:nvPr/>
          </p:nvSpPr>
          <p:spPr>
            <a:xfrm>
              <a:off x="1044680" y="1990412"/>
              <a:ext cx="1677725" cy="388068"/>
            </a:xfrm>
            <a:prstGeom prst="rect">
              <a:avLst/>
            </a:prstGeom>
            <a:noFill/>
          </p:spPr>
          <p:txBody>
            <a:bodyPr wrap="none" rtlCol="0">
              <a:spAutoFit/>
            </a:bodyPr>
            <a:lstStyle/>
            <a:p>
              <a:r>
                <a:rPr lang="en-IN" sz="1600" b="1" dirty="0">
                  <a:solidFill>
                    <a:srgbClr val="002060"/>
                  </a:solidFill>
                  <a:latin typeface="Calibri" panose="020F0502020204030204" pitchFamily="34" charset="0"/>
                  <a:ea typeface="Calibri" panose="020F0502020204030204" pitchFamily="34" charset="0"/>
                  <a:cs typeface="Calibri" panose="020F0502020204030204" pitchFamily="34" charset="0"/>
                </a:rPr>
                <a:t>Technical Expertise</a:t>
              </a:r>
            </a:p>
          </p:txBody>
        </p:sp>
      </p:grpSp>
      <p:sp>
        <p:nvSpPr>
          <p:cNvPr id="16" name="object 3">
            <a:extLst>
              <a:ext uri="{FF2B5EF4-FFF2-40B4-BE49-F238E27FC236}">
                <a16:creationId xmlns:a16="http://schemas.microsoft.com/office/drawing/2014/main" id="{F4243315-F4CA-C185-99AF-A0AEEDA89C38}"/>
              </a:ext>
            </a:extLst>
          </p:cNvPr>
          <p:cNvSpPr txBox="1"/>
          <p:nvPr/>
        </p:nvSpPr>
        <p:spPr>
          <a:xfrm>
            <a:off x="250371" y="2943376"/>
            <a:ext cx="7242137" cy="3835024"/>
          </a:xfrm>
          <a:prstGeom prst="rect">
            <a:avLst/>
          </a:prstGeom>
          <a:solidFill>
            <a:schemeClr val="bg1"/>
          </a:solidFill>
          <a:ln w="9144">
            <a:solidFill>
              <a:schemeClr val="tx1"/>
            </a:solidFill>
          </a:ln>
        </p:spPr>
        <p:txBody>
          <a:bodyPr vert="horz" wrap="square" lIns="0" tIns="28575" rIns="0" bIns="0" rtlCol="0" anchor="t">
            <a:spAutoFit/>
          </a:bodyPr>
          <a:lstStyle>
            <a:defPPr>
              <a:defRPr lang="en-US"/>
            </a:defPPr>
            <a:lvl1pPr marL="374650" marR="83820" indent="-285750">
              <a:spcBef>
                <a:spcPts val="225"/>
              </a:spcBef>
              <a:buFont typeface="Arial" panose="020B0604020202020204" pitchFamily="34" charset="0"/>
              <a:buChar char="•"/>
              <a:defRPr sz="1600" spc="-5">
                <a:solidFill>
                  <a:srgbClr val="E7E6E6"/>
                </a:solidFill>
                <a:latin typeface="Calibri"/>
                <a:cs typeface="Calibri"/>
              </a:defRPr>
            </a:lvl1pPr>
          </a:lstStyle>
          <a:p>
            <a:pPr marL="88900" indent="0">
              <a:buNone/>
            </a:pPr>
            <a:r>
              <a:rPr lang="en-US" sz="1400" b="1" dirty="0">
                <a:solidFill>
                  <a:schemeClr val="tx1"/>
                </a:solidFill>
              </a:rPr>
              <a:t>Testing Skills</a:t>
            </a:r>
            <a:endParaRPr lang="en-IN" sz="1400" b="1" dirty="0">
              <a:solidFill>
                <a:schemeClr val="tx1"/>
              </a:solidFill>
            </a:endParaRPr>
          </a:p>
          <a:p>
            <a:pPr marL="374650" marR="83820" lvl="1" indent="-285750">
              <a:spcBef>
                <a:spcPts val="225"/>
              </a:spcBef>
              <a:buFont typeface="Arial" panose="020B0604020202020204" pitchFamily="34" charset="0"/>
              <a:buChar char="•"/>
            </a:pPr>
            <a:r>
              <a:rPr lang="en-US" sz="1400" spc="-5" dirty="0"/>
              <a:t>Manual Testing: Functional, Regression, Smoke, Sanity, System, Integration, UAT</a:t>
            </a:r>
            <a:endParaRPr lang="en-IN" sz="1400" spc="-5" dirty="0"/>
          </a:p>
          <a:p>
            <a:pPr marL="374650" marR="83820" lvl="1" indent="-285750">
              <a:spcBef>
                <a:spcPts val="225"/>
              </a:spcBef>
              <a:buFont typeface="Arial" panose="020B0604020202020204" pitchFamily="34" charset="0"/>
              <a:buChar char="•"/>
            </a:pPr>
            <a:r>
              <a:rPr lang="en-US" sz="1400" spc="-5" dirty="0"/>
              <a:t>Automation Testing: Selenium WebDriver with Python Test Case Design using BVA &amp; Equivalence Partitioning</a:t>
            </a:r>
            <a:endParaRPr lang="en-IN" sz="1400" spc="-5" dirty="0"/>
          </a:p>
          <a:p>
            <a:pPr marL="374650" marR="83820" lvl="1" indent="-285750">
              <a:spcBef>
                <a:spcPts val="225"/>
              </a:spcBef>
              <a:buFont typeface="Arial" panose="020B0604020202020204" pitchFamily="34" charset="0"/>
              <a:buChar char="•"/>
            </a:pPr>
            <a:r>
              <a:rPr lang="en-US" sz="1400" spc="-5" dirty="0"/>
              <a:t>Defect Tracking &amp; Management (Defect Life Cycle)</a:t>
            </a:r>
            <a:endParaRPr lang="en-IN" sz="1400" spc="-5" dirty="0"/>
          </a:p>
          <a:p>
            <a:pPr marL="88900" indent="0">
              <a:buNone/>
            </a:pPr>
            <a:r>
              <a:rPr lang="en-US" sz="1400" b="1" dirty="0">
                <a:solidFill>
                  <a:schemeClr val="tx1"/>
                </a:solidFill>
              </a:rPr>
              <a:t>Automation Frameworks &amp; Tools</a:t>
            </a:r>
          </a:p>
          <a:p>
            <a:r>
              <a:rPr lang="en-US" sz="1400" dirty="0">
                <a:solidFill>
                  <a:schemeClr val="tx1"/>
                </a:solidFill>
                <a:latin typeface="+mn-lt"/>
                <a:cs typeface="+mn-cs"/>
              </a:rPr>
              <a:t>Selenium WebDriver, </a:t>
            </a:r>
            <a:r>
              <a:rPr lang="en-US" sz="1400" dirty="0" err="1">
                <a:solidFill>
                  <a:schemeClr val="tx1"/>
                </a:solidFill>
                <a:latin typeface="+mn-lt"/>
                <a:cs typeface="+mn-cs"/>
              </a:rPr>
              <a:t>PyTest</a:t>
            </a:r>
            <a:r>
              <a:rPr lang="en-US" sz="1400" dirty="0">
                <a:solidFill>
                  <a:schemeClr val="tx1"/>
                </a:solidFill>
                <a:latin typeface="+mn-lt"/>
                <a:cs typeface="+mn-cs"/>
              </a:rPr>
              <a:t>, Page Object Model (POM)</a:t>
            </a:r>
            <a:endParaRPr lang="en-IN" sz="1400" dirty="0">
              <a:solidFill>
                <a:schemeClr val="tx1"/>
              </a:solidFill>
              <a:latin typeface="+mn-lt"/>
              <a:cs typeface="+mn-cs"/>
            </a:endParaRPr>
          </a:p>
          <a:p>
            <a:r>
              <a:rPr lang="en-US" sz="1400" dirty="0">
                <a:solidFill>
                  <a:schemeClr val="tx1"/>
                </a:solidFill>
                <a:latin typeface="+mn-lt"/>
                <a:cs typeface="+mn-cs"/>
              </a:rPr>
              <a:t>Data-driven &amp; Keyword-driven testing (basic)</a:t>
            </a:r>
            <a:endParaRPr lang="en-IN" sz="1400" dirty="0">
              <a:solidFill>
                <a:schemeClr val="tx1"/>
              </a:solidFill>
              <a:latin typeface="+mn-lt"/>
              <a:cs typeface="+mn-cs"/>
            </a:endParaRPr>
          </a:p>
          <a:p>
            <a:r>
              <a:rPr lang="en-US" sz="1400" dirty="0">
                <a:solidFill>
                  <a:schemeClr val="tx1"/>
                </a:solidFill>
                <a:latin typeface="+mn-lt"/>
                <a:cs typeface="+mn-cs"/>
              </a:rPr>
              <a:t>Git (Version Control) &amp; Jenkins (CI/CD pipeline integration for automation test execution)</a:t>
            </a:r>
            <a:endParaRPr lang="en-IN" sz="1400" dirty="0">
              <a:solidFill>
                <a:schemeClr val="tx1"/>
              </a:solidFill>
              <a:latin typeface="+mn-lt"/>
              <a:cs typeface="+mn-cs"/>
            </a:endParaRPr>
          </a:p>
          <a:p>
            <a:pPr marL="88900" indent="0">
              <a:buNone/>
            </a:pPr>
            <a:r>
              <a:rPr lang="en-US" sz="1400" b="1" dirty="0">
                <a:solidFill>
                  <a:schemeClr val="tx1"/>
                </a:solidFill>
              </a:rPr>
              <a:t>Programming &amp; Scripting</a:t>
            </a:r>
            <a:endParaRPr lang="en-IN" sz="1400" b="1" dirty="0">
              <a:solidFill>
                <a:schemeClr val="tx1"/>
              </a:solidFill>
            </a:endParaRPr>
          </a:p>
          <a:p>
            <a:pPr lvl="0"/>
            <a:r>
              <a:rPr lang="en-US" sz="1400" dirty="0">
                <a:solidFill>
                  <a:schemeClr val="tx1"/>
                </a:solidFill>
              </a:rPr>
              <a:t>Core Python (OOPs, Functions, Exception Handling), Python requests library for API testing</a:t>
            </a:r>
            <a:endParaRPr lang="en-IN" sz="1400" dirty="0">
              <a:solidFill>
                <a:schemeClr val="tx1"/>
              </a:solidFill>
            </a:endParaRPr>
          </a:p>
          <a:p>
            <a:pPr lvl="0"/>
            <a:r>
              <a:rPr lang="en-US" sz="1400" dirty="0">
                <a:solidFill>
                  <a:schemeClr val="tx1"/>
                </a:solidFill>
              </a:rPr>
              <a:t>SQL &amp; Snowflake SQL</a:t>
            </a:r>
            <a:endParaRPr lang="en-IN" sz="1400" dirty="0">
              <a:solidFill>
                <a:schemeClr val="tx1"/>
              </a:solidFill>
            </a:endParaRPr>
          </a:p>
          <a:p>
            <a:pPr marL="88900" indent="0">
              <a:buNone/>
            </a:pPr>
            <a:r>
              <a:rPr lang="en-US" sz="1400" b="1" dirty="0">
                <a:solidFill>
                  <a:schemeClr val="tx1"/>
                </a:solidFill>
              </a:rPr>
              <a:t>Web Technologies</a:t>
            </a:r>
            <a:endParaRPr lang="en-IN" sz="1400" b="1" dirty="0">
              <a:solidFill>
                <a:schemeClr val="tx1"/>
              </a:solidFill>
            </a:endParaRPr>
          </a:p>
          <a:p>
            <a:pPr lvl="0"/>
            <a:r>
              <a:rPr lang="en-US" sz="1400" dirty="0">
                <a:solidFill>
                  <a:schemeClr val="tx1"/>
                </a:solidFill>
              </a:rPr>
              <a:t>HTML, CSS, DOM,  XPath (Absolute, Relative, Dynamic XPath)</a:t>
            </a:r>
            <a:endParaRPr lang="en-IN" sz="1400" dirty="0">
              <a:solidFill>
                <a:schemeClr val="tx1"/>
              </a:solidFill>
            </a:endParaRPr>
          </a:p>
          <a:p>
            <a:pPr marL="88900" indent="0">
              <a:buNone/>
            </a:pPr>
            <a:r>
              <a:rPr lang="en-US" sz="1400" b="1" dirty="0">
                <a:solidFill>
                  <a:schemeClr val="tx1"/>
                </a:solidFill>
              </a:rPr>
              <a:t>Test &amp; Project Management Tools</a:t>
            </a:r>
            <a:endParaRPr lang="en-IN" sz="1400" b="1" dirty="0">
              <a:solidFill>
                <a:schemeClr val="tx1"/>
              </a:solidFill>
            </a:endParaRPr>
          </a:p>
          <a:p>
            <a:pPr lvl="0"/>
            <a:r>
              <a:rPr lang="en-US" sz="1400" dirty="0">
                <a:solidFill>
                  <a:schemeClr val="tx1"/>
                </a:solidFill>
              </a:rPr>
              <a:t>JIRA (Defect &amp; Story Tracking),  Postman (API Testing)</a:t>
            </a:r>
            <a:endParaRPr lang="en-IN" sz="1400" dirty="0">
              <a:solidFill>
                <a:schemeClr val="tx1"/>
              </a:solidFill>
            </a:endParaRPr>
          </a:p>
        </p:txBody>
      </p:sp>
      <p:sp>
        <p:nvSpPr>
          <p:cNvPr id="17" name="TextBox 16">
            <a:extLst>
              <a:ext uri="{FF2B5EF4-FFF2-40B4-BE49-F238E27FC236}">
                <a16:creationId xmlns:a16="http://schemas.microsoft.com/office/drawing/2014/main" id="{8854B0A2-0920-9F09-69B5-30270842C2AA}"/>
              </a:ext>
            </a:extLst>
          </p:cNvPr>
          <p:cNvSpPr txBox="1"/>
          <p:nvPr/>
        </p:nvSpPr>
        <p:spPr>
          <a:xfrm>
            <a:off x="7492730" y="2550312"/>
            <a:ext cx="1117870" cy="338554"/>
          </a:xfrm>
          <a:prstGeom prst="rect">
            <a:avLst/>
          </a:prstGeom>
          <a:noFill/>
        </p:spPr>
        <p:txBody>
          <a:bodyPr wrap="none" rtlCol="0">
            <a:spAutoFit/>
          </a:bodyPr>
          <a:lstStyle/>
          <a:p>
            <a:pPr marL="88900" indent="0">
              <a:buNone/>
            </a:pPr>
            <a:r>
              <a:rPr lang="en-IN" sz="1600" b="1" dirty="0">
                <a:solidFill>
                  <a:srgbClr val="002060"/>
                </a:solidFill>
                <a:latin typeface="Calibri" panose="020F0502020204030204" pitchFamily="34" charset="0"/>
                <a:ea typeface="Calibri" panose="020F0502020204030204" pitchFamily="34" charset="0"/>
                <a:cs typeface="Calibri" panose="020F0502020204030204" pitchFamily="34" charset="0"/>
              </a:rPr>
              <a:t>Education</a:t>
            </a:r>
            <a:endParaRPr lang="en-IN" sz="1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Google Shape;112;g86061bca98_0_0">
            <a:extLst>
              <a:ext uri="{FF2B5EF4-FFF2-40B4-BE49-F238E27FC236}">
                <a16:creationId xmlns:a16="http://schemas.microsoft.com/office/drawing/2014/main" id="{F4D74AF3-3042-C613-21D4-BDECAE090733}"/>
              </a:ext>
            </a:extLst>
          </p:cNvPr>
          <p:cNvSpPr txBox="1">
            <a:spLocks/>
          </p:cNvSpPr>
          <p:nvPr/>
        </p:nvSpPr>
        <p:spPr>
          <a:xfrm>
            <a:off x="165373" y="24560"/>
            <a:ext cx="9156226" cy="434174"/>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2600"/>
            </a:pPr>
            <a:r>
              <a:rPr lang="en-US" sz="2400" b="1" dirty="0">
                <a:latin typeface="Calibri" panose="020F0502020204030204" pitchFamily="34" charset="0"/>
                <a:ea typeface="Calibri" panose="020F0502020204030204" pitchFamily="34" charset="0"/>
                <a:cs typeface="Calibri" panose="020F0502020204030204" pitchFamily="34" charset="0"/>
              </a:rPr>
              <a:t>Prasad </a:t>
            </a:r>
            <a:r>
              <a:rPr lang="en-US" sz="2400" b="1" dirty="0" err="1">
                <a:latin typeface="Calibri" panose="020F0502020204030204" pitchFamily="34" charset="0"/>
                <a:ea typeface="Calibri" panose="020F0502020204030204" pitchFamily="34" charset="0"/>
                <a:cs typeface="Calibri" panose="020F0502020204030204" pitchFamily="34" charset="0"/>
              </a:rPr>
              <a:t>Chittiboina</a:t>
            </a:r>
            <a:r>
              <a:rPr lang="en-US" sz="2400" b="1" dirty="0">
                <a:latin typeface="Calibri" panose="020F0502020204030204" pitchFamily="34" charset="0"/>
                <a:ea typeface="Calibri" panose="020F0502020204030204" pitchFamily="34" charset="0"/>
                <a:cs typeface="Calibri" panose="020F0502020204030204" pitchFamily="34" charset="0"/>
              </a:rPr>
              <a:t>– Senior Automation Test Engineer </a:t>
            </a:r>
          </a:p>
        </p:txBody>
      </p:sp>
      <p:pic>
        <p:nvPicPr>
          <p:cNvPr id="4" name="Picture 3">
            <a:extLst>
              <a:ext uri="{FF2B5EF4-FFF2-40B4-BE49-F238E27FC236}">
                <a16:creationId xmlns:a16="http://schemas.microsoft.com/office/drawing/2014/main" id="{9AC96AE1-6DDE-C42D-0EBE-1DAD975BF3F8}"/>
              </a:ext>
            </a:extLst>
          </p:cNvPr>
          <p:cNvPicPr>
            <a:picLocks noChangeAspect="1"/>
          </p:cNvPicPr>
          <p:nvPr/>
        </p:nvPicPr>
        <p:blipFill>
          <a:blip r:embed="rId2">
            <a:biLevel thresh="25000"/>
          </a:blip>
          <a:stretch>
            <a:fillRect/>
          </a:stretch>
        </p:blipFill>
        <p:spPr>
          <a:xfrm>
            <a:off x="9875099" y="6062530"/>
            <a:ext cx="2066530" cy="587639"/>
          </a:xfrm>
          <a:prstGeom prst="rect">
            <a:avLst/>
          </a:prstGeom>
          <a:solidFill>
            <a:schemeClr val="bg1"/>
          </a:solidFill>
        </p:spPr>
      </p:pic>
    </p:spTree>
    <p:extLst>
      <p:ext uri="{BB962C8B-B14F-4D97-AF65-F5344CB8AC3E}">
        <p14:creationId xmlns:p14="http://schemas.microsoft.com/office/powerpoint/2010/main" val="266361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6B1E69-0F38-81F8-540B-4926BD021B1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2B9C50E-5FC8-C9F7-FDC5-47DC358B417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EF36EC-AB1E-4C9F-83A1-C938ECB7FC5C}" type="slidenum">
              <a:rPr kumimoji="0" lang="en-IN" sz="1400" b="0" i="0" u="none" strike="noStrike" kern="1200" cap="none" spc="0" normalizeH="0" baseline="0" noProof="0" smtClean="0">
                <a:ln>
                  <a:noFill/>
                </a:ln>
                <a:solidFill>
                  <a:prstClr val="black">
                    <a:tint val="82000"/>
                  </a:prstClr>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400" b="0" i="0" u="none" strike="noStrike" kern="1200" cap="none" spc="0" normalizeH="0" baseline="0" noProof="0" dirty="0">
              <a:ln>
                <a:noFill/>
              </a:ln>
              <a:solidFill>
                <a:prstClr val="black">
                  <a:tint val="82000"/>
                </a:prstClr>
              </a:solidFill>
              <a:effectLst/>
              <a:uLnTx/>
              <a:uFillTx/>
              <a:latin typeface="Calibri"/>
              <a:ea typeface="Calibri"/>
              <a:cs typeface="Calibri"/>
            </a:endParaRPr>
          </a:p>
        </p:txBody>
      </p:sp>
      <p:sp>
        <p:nvSpPr>
          <p:cNvPr id="7" name="TextBox 6">
            <a:extLst>
              <a:ext uri="{FF2B5EF4-FFF2-40B4-BE49-F238E27FC236}">
                <a16:creationId xmlns:a16="http://schemas.microsoft.com/office/drawing/2014/main" id="{CBC7D05A-9F91-615D-CE48-576F37B0F8CA}"/>
              </a:ext>
            </a:extLst>
          </p:cNvPr>
          <p:cNvSpPr txBox="1"/>
          <p:nvPr/>
        </p:nvSpPr>
        <p:spPr>
          <a:xfrm>
            <a:off x="304800" y="634824"/>
            <a:ext cx="9954892" cy="923330"/>
          </a:xfrm>
          <a:prstGeom prst="rect">
            <a:avLst/>
          </a:prstGeom>
          <a:noFill/>
        </p:spPr>
        <p:txBody>
          <a:bodyPr wrap="square" lIns="91440" tIns="45720" rIns="91440" bIns="45720" anchor="t">
            <a:spAutoFit/>
          </a:bodyPr>
          <a:lstStyle/>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Project:</a:t>
            </a:r>
            <a:r>
              <a:rPr lang="en-US" b="1" dirty="0">
                <a:solidFill>
                  <a:prstClr val="black"/>
                </a:solidFill>
                <a:latin typeface="Calibri"/>
                <a:ea typeface="Calibri"/>
                <a:cs typeface="Calibri"/>
              </a:rPr>
              <a:t>PWC (Price Waterhouse Coopers).</a:t>
            </a:r>
            <a:endParaRPr lang="en-US" b="1" i="0" u="none" strike="noStrike" kern="1200" cap="none" spc="0" normalizeH="0" baseline="0" noProof="0" dirty="0">
              <a:ln>
                <a:noFill/>
              </a:ln>
              <a:solidFill>
                <a:prstClr val="black"/>
              </a:solidFill>
              <a:effectLst/>
              <a:uLnTx/>
              <a:uFillTx/>
              <a:latin typeface="Calibri"/>
              <a:ea typeface="Calibri"/>
              <a:cs typeface="Calibri"/>
            </a:endParaRPr>
          </a:p>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Duration : </a:t>
            </a:r>
            <a:r>
              <a:rPr lang="en-US" b="1" dirty="0">
                <a:solidFill>
                  <a:prstClr val="black"/>
                </a:solidFill>
                <a:latin typeface="Calibri"/>
                <a:ea typeface="Calibri"/>
                <a:cs typeface="Calibri"/>
              </a:rPr>
              <a:t>Nov’2024 – Present</a:t>
            </a:r>
          </a:p>
          <a:p>
            <a:pPr>
              <a:defRPr/>
            </a:pPr>
            <a:r>
              <a:rPr lang="en-US" b="1" dirty="0"/>
              <a:t>Role</a:t>
            </a:r>
            <a:r>
              <a:rPr lang="en-US" dirty="0"/>
              <a:t>: Sr Automation Tester</a:t>
            </a:r>
            <a:endParaRPr lang="en-US" b="1"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 name="TextBox 10">
            <a:extLst>
              <a:ext uri="{FF2B5EF4-FFF2-40B4-BE49-F238E27FC236}">
                <a16:creationId xmlns:a16="http://schemas.microsoft.com/office/drawing/2014/main" id="{1381C02B-7633-3969-A15A-1467F0D1213B}"/>
              </a:ext>
            </a:extLst>
          </p:cNvPr>
          <p:cNvSpPr txBox="1"/>
          <p:nvPr/>
        </p:nvSpPr>
        <p:spPr>
          <a:xfrm>
            <a:off x="304800" y="2132178"/>
            <a:ext cx="11691257" cy="2800767"/>
          </a:xfrm>
          <a:prstGeom prst="rect">
            <a:avLst/>
          </a:prstGeom>
          <a:noFill/>
        </p:spPr>
        <p:txBody>
          <a:bodyPr wrap="square" lIns="91440" tIns="45720" rIns="91440" bIns="45720" anchor="t">
            <a:spAutoFit/>
          </a:bodyPr>
          <a:lstStyle/>
          <a:p>
            <a:pPr algn="just" fontAlgn="base" hangingPunct="0">
              <a:defRPr/>
            </a:pPr>
            <a:r>
              <a:rPr kumimoji="0" lang="en-US" sz="1600" i="0" u="none" strike="noStrike" kern="1200" cap="none" spc="0" normalizeH="0" baseline="0" noProof="0" dirty="0">
                <a:ln>
                  <a:noFill/>
                </a:ln>
                <a:solidFill>
                  <a:prstClr val="black"/>
                </a:solidFill>
                <a:effectLst/>
                <a:uLnTx/>
                <a:uFillTx/>
                <a:latin typeface="Calibri"/>
                <a:ea typeface="Calibri"/>
                <a:cs typeface="Calibri"/>
              </a:rPr>
              <a:t>PWC (price water house cooper’s) an international firm of accountants and management consultants that provides services to businesses, it is the second largest professional services firm in the world supports trade feeds from various upstream systems into Summit. My process: Incident management is all about incidents or interruption which are made as tickets. These tickets come with priority as critical or normal. SLA is the time fixed for the incident either to resolve or respond. In order to prevent tickets from breaching we had a team for ticket monitoring We monitor both US and UK territory tickets and resolution of tickets was also included in the tickets.</a:t>
            </a:r>
          </a:p>
          <a:p>
            <a:pPr algn="just" fontAlgn="base" hangingPunct="0">
              <a:defRPr/>
            </a:pPr>
            <a:endParaRPr lang="en-US" sz="1600" i="0" u="none" strike="noStrike" kern="1200" cap="none" spc="0" normalizeH="0" baseline="0" noProof="0" dirty="0">
              <a:ln>
                <a:noFill/>
              </a:ln>
              <a:solidFill>
                <a:prstClr val="black"/>
              </a:solidFill>
              <a:effectLst/>
              <a:uLnTx/>
              <a:uFillTx/>
              <a:latin typeface="Calibri"/>
              <a:ea typeface="Calibri"/>
              <a:cs typeface="Calibri"/>
            </a:endParaRPr>
          </a:p>
          <a:p>
            <a:pPr marL="0" marR="0" lvl="0" indent="0" algn="just" defTabSz="914400" rtl="0" eaLnBrk="1" fontAlgn="base" latinLnBrk="0" hangingPunct="0">
              <a:lnSpc>
                <a:spcPct val="100000"/>
              </a:lnSpc>
              <a:spcBef>
                <a:spcPts val="0"/>
              </a:spcBef>
              <a:spcAft>
                <a:spcPts val="0"/>
              </a:spcAft>
              <a:buClrTx/>
              <a:buSzTx/>
              <a:buFontTx/>
              <a:buNone/>
              <a:tabLst/>
              <a:defRPr/>
            </a:pPr>
            <a:r>
              <a:rPr lang="en-US" sz="1600" b="1" dirty="0">
                <a:solidFill>
                  <a:prstClr val="black"/>
                </a:solidFill>
                <a:latin typeface="Calibri" panose="020F0502020204030204" pitchFamily="34" charset="0"/>
                <a:ea typeface="Calibri" panose="020F0502020204030204" pitchFamily="34" charset="0"/>
                <a:cs typeface="Calibri" panose="020F0502020204030204" pitchFamily="34" charset="0"/>
              </a:rPr>
              <a:t>Responsibilities: </a:t>
            </a:r>
          </a:p>
          <a:p>
            <a:pPr marL="285750" indent="-285750" algn="just" fontAlgn="base" hangingPunct="0">
              <a:buFont typeface="Arial" panose="020B0604020202020204" pitchFamily="34" charset="0"/>
              <a:buChar char="•"/>
              <a:defRPr/>
            </a:pPr>
            <a:r>
              <a:rPr lang="en-US" sz="1600" dirty="0">
                <a:solidFill>
                  <a:srgbClr val="0D0D0D"/>
                </a:solidFill>
                <a:highlight>
                  <a:srgbClr val="FFFFFF"/>
                </a:highlight>
                <a:latin typeface="Calibri"/>
                <a:ea typeface="Calibri"/>
                <a:cs typeface="Segoe UI"/>
              </a:rPr>
              <a:t>Worked in IT help desk for Price Waterhouse Cooper (PWC) client by providing best and valued IT service to customer.</a:t>
            </a:r>
          </a:p>
          <a:p>
            <a:pPr marL="285750" indent="-285750" algn="just" fontAlgn="base" hangingPunct="0">
              <a:buFont typeface="Arial" panose="020B0604020202020204" pitchFamily="34" charset="0"/>
              <a:buChar char="•"/>
              <a:defRPr/>
            </a:pPr>
            <a:r>
              <a:rPr lang="en-US" sz="1600" dirty="0">
                <a:solidFill>
                  <a:srgbClr val="0D0D0D"/>
                </a:solidFill>
                <a:highlight>
                  <a:srgbClr val="FFFFFF"/>
                </a:highlight>
                <a:latin typeface="Calibri"/>
                <a:ea typeface="Calibri"/>
                <a:cs typeface="Segoe UI"/>
              </a:rPr>
              <a:t>Involved in providing IT solutions for infrastructure, internal Applications and Global finances services by resolving tickets.</a:t>
            </a:r>
          </a:p>
          <a:p>
            <a:pPr marL="285750" indent="-285750" algn="just" fontAlgn="base" hangingPunct="0">
              <a:buFont typeface="Arial" panose="020B0604020202020204" pitchFamily="34" charset="0"/>
              <a:buChar char="•"/>
              <a:defRPr/>
            </a:pPr>
            <a:r>
              <a:rPr lang="en-US" sz="1600" dirty="0">
                <a:solidFill>
                  <a:srgbClr val="0D0D0D"/>
                </a:solidFill>
                <a:highlight>
                  <a:srgbClr val="FFFFFF"/>
                </a:highlight>
                <a:latin typeface="Calibri"/>
                <a:ea typeface="Calibri"/>
                <a:cs typeface="Segoe UI"/>
              </a:rPr>
              <a:t>Involved in creating Knowledge base (KB) article for providing IT solutions in a particular ORDER.</a:t>
            </a:r>
          </a:p>
          <a:p>
            <a:pPr marL="285750" indent="-285750" algn="just" fontAlgn="base" hangingPunct="0">
              <a:buFont typeface="Arial" panose="020B0604020202020204" pitchFamily="34" charset="0"/>
              <a:buChar char="•"/>
              <a:defRPr/>
            </a:pPr>
            <a:r>
              <a:rPr lang="en-US" sz="1600" dirty="0">
                <a:solidFill>
                  <a:srgbClr val="0D0D0D"/>
                </a:solidFill>
                <a:highlight>
                  <a:srgbClr val="FFFFFF"/>
                </a:highlight>
                <a:latin typeface="Calibri"/>
                <a:ea typeface="Calibri"/>
                <a:cs typeface="Segoe UI"/>
              </a:rPr>
              <a:t>Took leadership and acted as a subject Matter Expert (SME) by leading a team.</a:t>
            </a:r>
          </a:p>
        </p:txBody>
      </p:sp>
      <p:sp>
        <p:nvSpPr>
          <p:cNvPr id="12" name="TextBox 11">
            <a:extLst>
              <a:ext uri="{FF2B5EF4-FFF2-40B4-BE49-F238E27FC236}">
                <a16:creationId xmlns:a16="http://schemas.microsoft.com/office/drawing/2014/main" id="{2BC9D2C8-6764-C5E5-A90E-CC7FC0AFAD82}"/>
              </a:ext>
            </a:extLst>
          </p:cNvPr>
          <p:cNvSpPr txBox="1"/>
          <p:nvPr/>
        </p:nvSpPr>
        <p:spPr>
          <a:xfrm>
            <a:off x="304800" y="1712950"/>
            <a:ext cx="1470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
            </a:r>
            <a:r>
              <a:rPr lang="en-IN" b="1" dirty="0"/>
              <a:t>escription</a:t>
            </a:r>
            <a:r>
              <a:rPr kumimoji="0" lang="en-IN" sz="1600" b="1" i="0" u="none" strike="noStrike" kern="1200" cap="none" spc="0" normalizeH="0" baseline="0" noProof="0" dirty="0">
                <a:ln>
                  <a:noFill/>
                </a:ln>
                <a:solidFill>
                  <a:srgbClr val="002060"/>
                </a:solidFill>
                <a:effectLst/>
                <a:uLnTx/>
                <a:uFillTx/>
                <a:latin typeface="Calibri"/>
                <a:ea typeface="Calibri"/>
                <a:cs typeface="Calibri"/>
              </a:rPr>
              <a:t>:</a:t>
            </a:r>
          </a:p>
        </p:txBody>
      </p:sp>
      <p:sp>
        <p:nvSpPr>
          <p:cNvPr id="14" name="TextBox 13">
            <a:extLst>
              <a:ext uri="{FF2B5EF4-FFF2-40B4-BE49-F238E27FC236}">
                <a16:creationId xmlns:a16="http://schemas.microsoft.com/office/drawing/2014/main" id="{AF913CD7-9A95-D476-A9A6-22DDFFEF6812}"/>
              </a:ext>
            </a:extLst>
          </p:cNvPr>
          <p:cNvSpPr txBox="1"/>
          <p:nvPr/>
        </p:nvSpPr>
        <p:spPr>
          <a:xfrm>
            <a:off x="304800" y="278283"/>
            <a:ext cx="17343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2060"/>
                </a:solidFill>
                <a:effectLst/>
                <a:uLnTx/>
                <a:uFillTx/>
                <a:latin typeface="Calibri"/>
                <a:ea typeface="Calibri"/>
                <a:cs typeface="Calibri"/>
              </a:rPr>
              <a:t>Project 1</a:t>
            </a:r>
            <a:endParaRPr kumimoji="0" lang="en-US" b="0" i="0" u="none" strike="noStrike" kern="1200" cap="none" spc="0" normalizeH="0" baseline="0" noProof="0" dirty="0">
              <a:ln>
                <a:noFill/>
              </a:ln>
              <a:solidFill>
                <a:srgbClr val="002060"/>
              </a:solidFill>
              <a:effectLst/>
              <a:uLnTx/>
              <a:uFillTx/>
              <a:latin typeface="Calibri"/>
              <a:ea typeface="Calibri"/>
              <a:cs typeface="Calibri"/>
            </a:endParaRPr>
          </a:p>
        </p:txBody>
      </p:sp>
      <p:pic>
        <p:nvPicPr>
          <p:cNvPr id="3" name="Picture 2">
            <a:extLst>
              <a:ext uri="{FF2B5EF4-FFF2-40B4-BE49-F238E27FC236}">
                <a16:creationId xmlns:a16="http://schemas.microsoft.com/office/drawing/2014/main" id="{FD453B02-7DA0-A282-3EFD-89CB955BA5FF}"/>
              </a:ext>
            </a:extLst>
          </p:cNvPr>
          <p:cNvPicPr>
            <a:picLocks noChangeAspect="1"/>
          </p:cNvPicPr>
          <p:nvPr/>
        </p:nvPicPr>
        <p:blipFill>
          <a:blip r:embed="rId2">
            <a:biLevel thresh="25000"/>
          </a:blip>
          <a:stretch>
            <a:fillRect/>
          </a:stretch>
        </p:blipFill>
        <p:spPr>
          <a:xfrm>
            <a:off x="9993086" y="75293"/>
            <a:ext cx="2066530" cy="587639"/>
          </a:xfrm>
          <a:prstGeom prst="rect">
            <a:avLst/>
          </a:prstGeom>
          <a:solidFill>
            <a:schemeClr val="bg1"/>
          </a:solidFill>
        </p:spPr>
      </p:pic>
    </p:spTree>
    <p:extLst>
      <p:ext uri="{BB962C8B-B14F-4D97-AF65-F5344CB8AC3E}">
        <p14:creationId xmlns:p14="http://schemas.microsoft.com/office/powerpoint/2010/main" val="4121649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9D82DC-B40F-499F-B2F1-D546FF566C0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7290704-6EEE-D0AC-8291-BA48864B1A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EF36EC-AB1E-4C9F-83A1-C938ECB7FC5C}" type="slidenum">
              <a:rPr kumimoji="0" lang="en-IN" sz="1400" b="0" i="0" u="none" strike="noStrike" kern="1200" cap="none" spc="0" normalizeH="0" baseline="0" noProof="0" smtClean="0">
                <a:ln>
                  <a:noFill/>
                </a:ln>
                <a:solidFill>
                  <a:prstClr val="black">
                    <a:tint val="82000"/>
                  </a:prstClr>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400" b="0" i="0" u="none" strike="noStrike" kern="1200" cap="none" spc="0" normalizeH="0" baseline="0" noProof="0" dirty="0">
              <a:ln>
                <a:noFill/>
              </a:ln>
              <a:solidFill>
                <a:prstClr val="black">
                  <a:tint val="82000"/>
                </a:prstClr>
              </a:solidFill>
              <a:effectLst/>
              <a:uLnTx/>
              <a:uFillTx/>
              <a:latin typeface="Calibri"/>
              <a:ea typeface="Calibri"/>
              <a:cs typeface="Calibri"/>
            </a:endParaRPr>
          </a:p>
        </p:txBody>
      </p:sp>
      <p:sp>
        <p:nvSpPr>
          <p:cNvPr id="7" name="TextBox 6">
            <a:extLst>
              <a:ext uri="{FF2B5EF4-FFF2-40B4-BE49-F238E27FC236}">
                <a16:creationId xmlns:a16="http://schemas.microsoft.com/office/drawing/2014/main" id="{6BAA8868-FDEB-212D-0E84-B1B339220F85}"/>
              </a:ext>
            </a:extLst>
          </p:cNvPr>
          <p:cNvSpPr txBox="1"/>
          <p:nvPr/>
        </p:nvSpPr>
        <p:spPr>
          <a:xfrm>
            <a:off x="304798" y="403733"/>
            <a:ext cx="10278256" cy="1754326"/>
          </a:xfrm>
          <a:prstGeom prst="rect">
            <a:avLst/>
          </a:prstGeom>
          <a:noFill/>
        </p:spPr>
        <p:txBody>
          <a:bodyPr wrap="square" lIns="91440" tIns="45720" rIns="91440" bIns="45720" anchor="t">
            <a:spAutoFit/>
          </a:bodyPr>
          <a:lstStyle/>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Project:</a:t>
            </a:r>
            <a:r>
              <a:rPr lang="en-US" b="1" dirty="0">
                <a:solidFill>
                  <a:prstClr val="black"/>
                </a:solidFill>
                <a:latin typeface="Calibri"/>
                <a:ea typeface="Calibri"/>
                <a:cs typeface="Calibri"/>
              </a:rPr>
              <a:t> </a:t>
            </a:r>
            <a:r>
              <a:rPr lang="en-US" b="1" dirty="0">
                <a:solidFill>
                  <a:prstClr val="black"/>
                </a:solidFill>
                <a:latin typeface="Calibri"/>
                <a:ea typeface="Calibri"/>
                <a:cs typeface="Segoe UI"/>
              </a:rPr>
              <a:t>Information System</a:t>
            </a:r>
            <a:endParaRPr lang="en-US" b="1" i="0" u="none" strike="noStrike" kern="1200" cap="none" spc="0" normalizeH="0" baseline="0" noProof="0" dirty="0">
              <a:ln>
                <a:noFill/>
              </a:ln>
              <a:solidFill>
                <a:prstClr val="black"/>
              </a:solidFill>
              <a:effectLst/>
              <a:uLnTx/>
              <a:uFillTx/>
              <a:latin typeface="Calibri"/>
              <a:ea typeface="Calibri"/>
              <a:cs typeface="Calibri"/>
            </a:endParaRPr>
          </a:p>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Duration : </a:t>
            </a:r>
            <a:r>
              <a:rPr lang="en-US" b="1" dirty="0">
                <a:solidFill>
                  <a:prstClr val="black"/>
                </a:solidFill>
                <a:latin typeface="Calibri"/>
                <a:ea typeface="Calibri"/>
                <a:cs typeface="Segoe UI"/>
              </a:rPr>
              <a:t>May’2022 – Oct’2024</a:t>
            </a:r>
          </a:p>
          <a:p>
            <a:pPr>
              <a:defRPr/>
            </a:pPr>
            <a:r>
              <a:rPr lang="en-US" b="1" dirty="0"/>
              <a:t>Role</a:t>
            </a:r>
            <a:r>
              <a:rPr lang="en-US" dirty="0"/>
              <a:t>: Automation Tester</a:t>
            </a:r>
            <a:endParaRPr lang="en-IN" dirty="0"/>
          </a:p>
          <a:p>
            <a:pPr>
              <a:defRPr/>
            </a:pPr>
            <a:endParaRPr lang="en-US" b="1" dirty="0">
              <a:solidFill>
                <a:prstClr val="black"/>
              </a:solidFill>
              <a:latin typeface="Calibri"/>
              <a:ea typeface="Calibri"/>
              <a:cs typeface="Segoe UI"/>
            </a:endParaRPr>
          </a:p>
          <a:p>
            <a:pPr>
              <a:defRPr/>
            </a:pPr>
            <a:endParaRPr lang="en-US" b="1" dirty="0">
              <a:solidFill>
                <a:prstClr val="black"/>
              </a:solidFill>
              <a:latin typeface="Calibri"/>
              <a:ea typeface="Calibri"/>
              <a:cs typeface="Segoe UI"/>
            </a:endParaRPr>
          </a:p>
          <a:p>
            <a:pPr>
              <a:defRPr/>
            </a:pPr>
            <a:r>
              <a:rPr lang="en-US" b="1" dirty="0">
                <a:solidFill>
                  <a:prstClr val="black"/>
                </a:solidFill>
                <a:latin typeface="Calibri"/>
                <a:ea typeface="Calibri"/>
                <a:cs typeface="Segoe UI"/>
              </a:rPr>
              <a:t> </a:t>
            </a:r>
            <a:endParaRPr lang="en-US" b="1" i="0" u="none" strike="noStrike" kern="1200" cap="none" spc="0" normalizeH="0" baseline="0" noProof="0" dirty="0">
              <a:ln>
                <a:noFill/>
              </a:ln>
              <a:solidFill>
                <a:prstClr val="black"/>
              </a:solidFill>
              <a:effectLst/>
              <a:uLnTx/>
              <a:uFillTx/>
              <a:latin typeface="Calibri"/>
              <a:ea typeface="Calibri"/>
              <a:cs typeface="Segoe UI"/>
            </a:endParaRPr>
          </a:p>
        </p:txBody>
      </p:sp>
      <p:sp>
        <p:nvSpPr>
          <p:cNvPr id="11" name="TextBox 10">
            <a:extLst>
              <a:ext uri="{FF2B5EF4-FFF2-40B4-BE49-F238E27FC236}">
                <a16:creationId xmlns:a16="http://schemas.microsoft.com/office/drawing/2014/main" id="{3F56B683-987F-2AB2-3C43-65E5943B627C}"/>
              </a:ext>
            </a:extLst>
          </p:cNvPr>
          <p:cNvSpPr txBox="1"/>
          <p:nvPr/>
        </p:nvSpPr>
        <p:spPr>
          <a:xfrm>
            <a:off x="304798" y="1489273"/>
            <a:ext cx="11582400" cy="5232202"/>
          </a:xfrm>
          <a:prstGeom prst="rect">
            <a:avLst/>
          </a:prstGeom>
          <a:noFill/>
        </p:spPr>
        <p:txBody>
          <a:bodyPr wrap="square" lIns="91440" tIns="45720" rIns="91440" bIns="45720" anchor="t">
            <a:spAutoFit/>
          </a:bodyPr>
          <a:lstStyle/>
          <a:p>
            <a:pPr algn="just">
              <a:defRPr/>
            </a:pPr>
            <a:r>
              <a:rPr lang="en-US" sz="1600" b="1" dirty="0">
                <a:solidFill>
                  <a:prstClr val="black"/>
                </a:solidFill>
                <a:latin typeface="Calibri" panose="020F0502020204030204" pitchFamily="34" charset="0"/>
                <a:ea typeface="Calibri" panose="020F0502020204030204" pitchFamily="34" charset="0"/>
                <a:cs typeface="Calibri" panose="020F0502020204030204" pitchFamily="34" charset="0"/>
              </a:rPr>
              <a:t>Project Overview</a:t>
            </a: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defRP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This is an internal project at Infosys focused on developing and maintaining web and mobile applications used by the company's employees. These applications support various business processes, such as Attendance, Health Insurance, and employee communication, aiming to improve efficiency and user experience. The project ensures that these tools are secure, user-friendly, and aligned with the company's internal policies and objectives.</a:t>
            </a:r>
          </a:p>
          <a:p>
            <a:pPr algn="just">
              <a:defRPr/>
            </a:pPr>
            <a:endParaRPr lang="en-US" sz="15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base" latinLnBrk="0"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Responsibilities</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endParaRPr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lgn="just">
              <a:defRPr/>
            </a:pPr>
            <a:endParaRPr lang="en-US" sz="1500"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Well experienced in Software Testing (Manual and Automation) for Web, Mobile, and REST APIs.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Proficient in SDLC, STLC with expertise in Test Plan, Test Case, and Test Execution.</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Proficient knowledge of Defect Life Cycle and logging the defects along with defect tracking and report generation.</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Skilled in Functional Testing (System, Regression, Integration &amp; Compatibility) and API Testing using Postman.</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Extensive experience in Automation Testing with Selenium WebDriver using, and TestNG.</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Hands-on experience in backend testing using SQL.</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Knowledge of CI/CD pipelines, including configuring REST APIs for integration.</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Strong communicator, problem-solver, quick learner, and mentor for new team members.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Well-versed in Agile methodologies and collaborating with cross-functional teams.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Experienced with tools like Jira, TFS, Git, </a:t>
            </a:r>
            <a:r>
              <a:rPr lang="en-US" sz="1600" dirty="0" err="1">
                <a:solidFill>
                  <a:prstClr val="black"/>
                </a:solidFill>
                <a:latin typeface="Calibri" panose="020F0502020204030204" pitchFamily="34" charset="0"/>
                <a:ea typeface="Calibri" panose="020F0502020204030204" pitchFamily="34" charset="0"/>
                <a:cs typeface="Calibri" panose="020F0502020204030204" pitchFamily="34" charset="0"/>
              </a:rPr>
              <a:t>iFast</a:t>
            </a: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 and Test Data Management tools.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Responsible for ensuring on-time delivery of high-quality product deliverables.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Having hands-on experience in java for developing selenium scripts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prstClr val="black"/>
                </a:solidFill>
                <a:latin typeface="Calibri" panose="020F0502020204030204" pitchFamily="34" charset="0"/>
                <a:ea typeface="Calibri" panose="020F0502020204030204" pitchFamily="34" charset="0"/>
                <a:cs typeface="Calibri" panose="020F0502020204030204" pitchFamily="34" charset="0"/>
              </a:rPr>
              <a:t>Designed and implemented XML schemas for data validation and integration between distributed systems.</a:t>
            </a:r>
            <a:endParaRPr lang="en-IN" sz="16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F5044C3-FB81-37EB-A51F-BF41E9D309C6}"/>
              </a:ext>
            </a:extLst>
          </p:cNvPr>
          <p:cNvSpPr txBox="1"/>
          <p:nvPr/>
        </p:nvSpPr>
        <p:spPr>
          <a:xfrm>
            <a:off x="304798" y="1204265"/>
            <a:ext cx="17343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
            </a:r>
            <a:r>
              <a:rPr lang="en-IN" b="1" dirty="0"/>
              <a:t>escription:</a:t>
            </a:r>
          </a:p>
        </p:txBody>
      </p:sp>
      <p:sp>
        <p:nvSpPr>
          <p:cNvPr id="14" name="TextBox 13">
            <a:extLst>
              <a:ext uri="{FF2B5EF4-FFF2-40B4-BE49-F238E27FC236}">
                <a16:creationId xmlns:a16="http://schemas.microsoft.com/office/drawing/2014/main" id="{89669AE3-6766-99D8-8ECA-0B70DC087BDB}"/>
              </a:ext>
            </a:extLst>
          </p:cNvPr>
          <p:cNvSpPr txBox="1"/>
          <p:nvPr/>
        </p:nvSpPr>
        <p:spPr>
          <a:xfrm>
            <a:off x="304800" y="52355"/>
            <a:ext cx="1734312"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2060"/>
                </a:solidFill>
                <a:effectLst/>
                <a:uLnTx/>
                <a:uFillTx/>
                <a:latin typeface="Calibri"/>
                <a:ea typeface="Calibri"/>
                <a:cs typeface="Calibri"/>
              </a:rPr>
              <a:t>Project </a:t>
            </a:r>
            <a:r>
              <a:rPr lang="en-US" b="1" dirty="0">
                <a:solidFill>
                  <a:srgbClr val="002060"/>
                </a:solidFill>
                <a:latin typeface="Calibri"/>
                <a:ea typeface="Calibri"/>
                <a:cs typeface="Calibri"/>
              </a:rPr>
              <a:t>2</a:t>
            </a:r>
            <a:endParaRPr kumimoji="0" lang="en-US" b="0" i="0" u="none" strike="noStrike" kern="1200" cap="none" spc="0" normalizeH="0" baseline="0" noProof="0" dirty="0">
              <a:ln>
                <a:noFill/>
              </a:ln>
              <a:solidFill>
                <a:srgbClr val="002060"/>
              </a:solidFill>
              <a:effectLst/>
              <a:uLnTx/>
              <a:uFillTx/>
              <a:latin typeface="Calibri"/>
              <a:ea typeface="Calibri"/>
              <a:cs typeface="Calibri"/>
            </a:endParaRPr>
          </a:p>
        </p:txBody>
      </p:sp>
      <p:pic>
        <p:nvPicPr>
          <p:cNvPr id="3" name="Picture 2">
            <a:extLst>
              <a:ext uri="{FF2B5EF4-FFF2-40B4-BE49-F238E27FC236}">
                <a16:creationId xmlns:a16="http://schemas.microsoft.com/office/drawing/2014/main" id="{1A747B1B-4E88-A533-215F-D22CE3E5C5D6}"/>
              </a:ext>
            </a:extLst>
          </p:cNvPr>
          <p:cNvPicPr>
            <a:picLocks noChangeAspect="1"/>
          </p:cNvPicPr>
          <p:nvPr/>
        </p:nvPicPr>
        <p:blipFill>
          <a:blip r:embed="rId2">
            <a:biLevel thresh="25000"/>
          </a:blip>
          <a:stretch>
            <a:fillRect/>
          </a:stretch>
        </p:blipFill>
        <p:spPr>
          <a:xfrm>
            <a:off x="9982200" y="179161"/>
            <a:ext cx="2066530" cy="587639"/>
          </a:xfrm>
          <a:prstGeom prst="rect">
            <a:avLst/>
          </a:prstGeom>
          <a:solidFill>
            <a:schemeClr val="bg1"/>
          </a:solidFill>
        </p:spPr>
      </p:pic>
    </p:spTree>
    <p:extLst>
      <p:ext uri="{BB962C8B-B14F-4D97-AF65-F5344CB8AC3E}">
        <p14:creationId xmlns:p14="http://schemas.microsoft.com/office/powerpoint/2010/main" val="85941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A1FEA4-F971-DBF9-AED6-FC31BA72730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1CD88D3-2A46-BC12-7671-0CA7629DFFF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EF36EC-AB1E-4C9F-83A1-C938ECB7FC5C}" type="slidenum">
              <a:rPr kumimoji="0" lang="en-IN" sz="1400" b="0" i="0" u="none" strike="noStrike" kern="1200" cap="none" spc="0" normalizeH="0" baseline="0" noProof="0" smtClean="0">
                <a:ln>
                  <a:noFill/>
                </a:ln>
                <a:solidFill>
                  <a:prstClr val="black">
                    <a:tint val="82000"/>
                  </a:prstClr>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400" b="0" i="0" u="none" strike="noStrike" kern="1200" cap="none" spc="0" normalizeH="0" baseline="0" noProof="0" dirty="0">
              <a:ln>
                <a:noFill/>
              </a:ln>
              <a:solidFill>
                <a:prstClr val="black">
                  <a:tint val="82000"/>
                </a:prstClr>
              </a:solidFill>
              <a:effectLst/>
              <a:uLnTx/>
              <a:uFillTx/>
              <a:latin typeface="Calibri"/>
              <a:ea typeface="Calibri"/>
              <a:cs typeface="Calibri"/>
            </a:endParaRPr>
          </a:p>
        </p:txBody>
      </p:sp>
      <p:sp>
        <p:nvSpPr>
          <p:cNvPr id="7" name="TextBox 6">
            <a:extLst>
              <a:ext uri="{FF2B5EF4-FFF2-40B4-BE49-F238E27FC236}">
                <a16:creationId xmlns:a16="http://schemas.microsoft.com/office/drawing/2014/main" id="{5643832E-FCE1-5E70-E193-C382AD3B85A3}"/>
              </a:ext>
            </a:extLst>
          </p:cNvPr>
          <p:cNvSpPr txBox="1"/>
          <p:nvPr/>
        </p:nvSpPr>
        <p:spPr>
          <a:xfrm>
            <a:off x="304800" y="647615"/>
            <a:ext cx="9954892" cy="923330"/>
          </a:xfrm>
          <a:prstGeom prst="rect">
            <a:avLst/>
          </a:prstGeom>
          <a:noFill/>
        </p:spPr>
        <p:txBody>
          <a:bodyPr wrap="square" lIns="91440" tIns="45720" rIns="91440" bIns="45720" anchor="t">
            <a:spAutoFit/>
          </a:bodyPr>
          <a:lstStyle/>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Project:</a:t>
            </a:r>
            <a:r>
              <a:rPr lang="en-US" b="1" dirty="0">
                <a:solidFill>
                  <a:prstClr val="black"/>
                </a:solidFill>
                <a:latin typeface="Calibri"/>
                <a:ea typeface="Calibri"/>
                <a:cs typeface="Calibri"/>
              </a:rPr>
              <a:t> </a:t>
            </a:r>
            <a:r>
              <a:rPr lang="en-US" b="1" dirty="0">
                <a:solidFill>
                  <a:prstClr val="black"/>
                </a:solidFill>
                <a:latin typeface="Calibri"/>
                <a:ea typeface="Calibri"/>
                <a:cs typeface="Segoe UI"/>
              </a:rPr>
              <a:t>Master Data Hub (MDH)</a:t>
            </a:r>
            <a:endParaRPr lang="en-US" b="1" i="0" u="none" strike="noStrike" kern="1200" cap="none" spc="0" normalizeH="0" baseline="0" noProof="0" dirty="0">
              <a:ln>
                <a:noFill/>
              </a:ln>
              <a:solidFill>
                <a:prstClr val="black"/>
              </a:solidFill>
              <a:effectLst/>
              <a:uLnTx/>
              <a:uFillTx/>
              <a:latin typeface="Calibri"/>
              <a:ea typeface="Calibri"/>
              <a:cs typeface="Calibri"/>
            </a:endParaRPr>
          </a:p>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Duration : </a:t>
            </a:r>
            <a:r>
              <a:rPr lang="en-US" b="1" dirty="0">
                <a:solidFill>
                  <a:prstClr val="black"/>
                </a:solidFill>
                <a:latin typeface="Calibri"/>
                <a:ea typeface="Calibri"/>
                <a:cs typeface="Segoe UI"/>
              </a:rPr>
              <a:t>Jan’2022 – April’2022</a:t>
            </a:r>
          </a:p>
          <a:p>
            <a:pPr>
              <a:defRPr/>
            </a:pPr>
            <a:r>
              <a:rPr lang="en-US" b="1" i="0" u="none" strike="noStrike" kern="1200" cap="none" spc="0" normalizeH="0" baseline="0" noProof="0" dirty="0">
                <a:ln>
                  <a:noFill/>
                </a:ln>
                <a:solidFill>
                  <a:prstClr val="black"/>
                </a:solidFill>
                <a:effectLst/>
                <a:uLnTx/>
                <a:uFillTx/>
                <a:latin typeface="Calibri"/>
                <a:ea typeface="Calibri"/>
                <a:cs typeface="Segoe UI"/>
              </a:rPr>
              <a:t>Role: </a:t>
            </a:r>
            <a:r>
              <a:rPr lang="en-US" dirty="0"/>
              <a:t>QA Analyst</a:t>
            </a:r>
            <a:endParaRPr lang="en-US" b="1" i="0" u="none" strike="noStrike" kern="1200" cap="none" spc="0" normalizeH="0" baseline="0" noProof="0" dirty="0">
              <a:ln>
                <a:noFill/>
              </a:ln>
              <a:solidFill>
                <a:prstClr val="black"/>
              </a:solidFill>
              <a:effectLst/>
              <a:uLnTx/>
              <a:uFillTx/>
              <a:latin typeface="Calibri"/>
              <a:ea typeface="Calibri"/>
              <a:cs typeface="Segoe UI"/>
            </a:endParaRPr>
          </a:p>
        </p:txBody>
      </p:sp>
      <p:sp>
        <p:nvSpPr>
          <p:cNvPr id="11" name="TextBox 10">
            <a:extLst>
              <a:ext uri="{FF2B5EF4-FFF2-40B4-BE49-F238E27FC236}">
                <a16:creationId xmlns:a16="http://schemas.microsoft.com/office/drawing/2014/main" id="{5195D475-D617-D7E2-0AAE-F20B3E7BBCAA}"/>
              </a:ext>
            </a:extLst>
          </p:cNvPr>
          <p:cNvSpPr txBox="1"/>
          <p:nvPr/>
        </p:nvSpPr>
        <p:spPr>
          <a:xfrm>
            <a:off x="304799" y="1841242"/>
            <a:ext cx="11702143" cy="4524315"/>
          </a:xfrm>
          <a:prstGeom prst="rect">
            <a:avLst/>
          </a:prstGeom>
          <a:noFill/>
        </p:spPr>
        <p:txBody>
          <a:bodyPr wrap="square" lIns="91440" tIns="45720" rIns="91440" bIns="45720" anchor="t">
            <a:spAutoFit/>
          </a:bodyPr>
          <a:lstStyle/>
          <a:p>
            <a:pPr algn="just" fontAlgn="base" hangingPunct="0">
              <a:defRPr/>
            </a:pPr>
            <a:r>
              <a:rPr kumimoji="0" lang="en-US" sz="1600" b="1" i="0" u="none" strike="noStrike" kern="1200" cap="none" spc="0" normalizeH="0" baseline="0" noProof="0" dirty="0">
                <a:ln>
                  <a:noFill/>
                </a:ln>
                <a:solidFill>
                  <a:prstClr val="black"/>
                </a:solidFill>
                <a:effectLst/>
                <a:uLnTx/>
                <a:uFillTx/>
                <a:latin typeface="Calibri"/>
                <a:ea typeface="Calibri"/>
                <a:cs typeface="Calibri"/>
              </a:rPr>
              <a:t>Project Overview</a:t>
            </a:r>
            <a:r>
              <a:rPr kumimoji="0" lang="en-US" sz="1600" b="0" i="0" u="none" strike="noStrike" kern="1200" cap="none" spc="0" normalizeH="0" baseline="0" noProof="0" dirty="0">
                <a:ln>
                  <a:noFill/>
                </a:ln>
                <a:solidFill>
                  <a:prstClr val="black"/>
                </a:solidFill>
                <a:effectLst/>
                <a:uLnTx/>
                <a:uFillTx/>
                <a:latin typeface="Calibri"/>
                <a:ea typeface="Calibri"/>
                <a:cs typeface="Calibri"/>
              </a:rPr>
              <a:t>: </a:t>
            </a:r>
            <a:r>
              <a:rPr lang="en-US" sz="1600" dirty="0">
                <a:solidFill>
                  <a:prstClr val="black"/>
                </a:solidFill>
                <a:latin typeface="Calibri"/>
                <a:ea typeface="+mn-lt"/>
                <a:cs typeface="Segoe UI"/>
              </a:rPr>
              <a:t>Worked on a centralized platform designed to consolidate, manage, and synchronize master data across multiple enterprise systems (ERP, CRM, AWS and other platforms). Ensured data consistency, accuracy, and integrity for critical business entities such as Customer, Product, Supplier, Location, and Employee by automating and validating core MDH functionalities including data ingestion, validation, enrichment, deduplication, golden record creation, and downstream data publishing.</a:t>
            </a:r>
            <a:endParaRPr lang="en-US" sz="1600" dirty="0">
              <a:solidFill>
                <a:prstClr val="black"/>
              </a:solidFill>
              <a:latin typeface="Calibri"/>
              <a:ea typeface="Calibri"/>
              <a:cs typeface="Calibri"/>
            </a:endParaRPr>
          </a:p>
          <a:p>
            <a:pPr marL="0" marR="0" lvl="0" indent="0" algn="just" defTabSz="914400" rtl="0" eaLnBrk="1" fontAlgn="base" latinLnBrk="0" hangingPunct="0">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a:ea typeface="Calibri"/>
              <a:cs typeface="Calibri"/>
            </a:endParaRPr>
          </a:p>
          <a:p>
            <a:pPr marL="0" marR="0" lvl="0" indent="0" algn="just" defTabSz="914400" rtl="0" eaLnBrk="1" fontAlgn="base" latinLnBrk="0"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Calibri"/>
                <a:cs typeface="Calibri"/>
              </a:rPr>
              <a:t>Responsibilities</a:t>
            </a:r>
            <a:r>
              <a:rPr kumimoji="0" lang="en-US" sz="1600" b="0" i="0" u="none" strike="noStrike" kern="1200" cap="none" spc="0" normalizeH="0" baseline="0" noProof="0" dirty="0">
                <a:ln>
                  <a:noFill/>
                </a:ln>
                <a:solidFill>
                  <a:prstClr val="black"/>
                </a:solidFill>
                <a:effectLst/>
                <a:uLnTx/>
                <a:uFillTx/>
                <a:latin typeface="Calibri"/>
                <a:ea typeface="Calibri"/>
                <a:cs typeface="Calibri"/>
              </a:rPr>
              <a:t>: </a:t>
            </a:r>
            <a:endParaRPr lang="en-US" sz="1600" b="0" i="0" u="none" strike="noStrike" kern="1200" cap="none" spc="0" normalizeH="0" baseline="0" noProof="0" dirty="0">
              <a:ln>
                <a:noFill/>
              </a:ln>
              <a:solidFill>
                <a:prstClr val="black"/>
              </a:solidFill>
              <a:effectLst/>
              <a:uLnTx/>
              <a:uFillTx/>
              <a:latin typeface="Calibri"/>
              <a:ea typeface="Calibri"/>
              <a:cs typeface="Calibri"/>
            </a:endParaRPr>
          </a:p>
          <a:p>
            <a:pPr marL="285750" indent="-285750" algn="just">
              <a:buFont typeface="Arial" panose="020B0604020202020204" pitchFamily="34" charset="0"/>
              <a:buChar char="•"/>
              <a:defRPr/>
            </a:pPr>
            <a:r>
              <a:rPr lang="en-US" sz="1600" dirty="0">
                <a:latin typeface="Calibri"/>
                <a:ea typeface="Calibri"/>
                <a:cs typeface="Calibri"/>
              </a:rPr>
              <a:t>Designed and implemented automation frameworks using Selenium WebDriver (Python), Playwright, and Robot Framework.</a:t>
            </a:r>
          </a:p>
          <a:p>
            <a:pPr marL="285750" indent="-285750" algn="just">
              <a:buFont typeface="Arial" panose="020B0604020202020204" pitchFamily="34" charset="0"/>
              <a:buChar char="•"/>
              <a:defRPr/>
            </a:pPr>
            <a:r>
              <a:rPr lang="en-US" sz="1600" dirty="0">
                <a:latin typeface="Calibri"/>
                <a:ea typeface="Calibri"/>
                <a:cs typeface="Calibri"/>
              </a:rPr>
              <a:t>Developed custom library functions and integrated them into existing frameworks to enhance automation capabilities.</a:t>
            </a:r>
          </a:p>
          <a:p>
            <a:pPr marL="285750" indent="-285750" algn="just">
              <a:buFont typeface="Arial" panose="020B0604020202020204" pitchFamily="34" charset="0"/>
              <a:buChar char="•"/>
              <a:defRPr/>
            </a:pPr>
            <a:r>
              <a:rPr lang="en-US" sz="1600" dirty="0">
                <a:latin typeface="Calibri"/>
                <a:ea typeface="Calibri"/>
                <a:cs typeface="Calibri"/>
              </a:rPr>
              <a:t>Automated regression and smoke test suites, ensuring high coverage and stability.</a:t>
            </a:r>
          </a:p>
          <a:p>
            <a:pPr marL="285750" indent="-285750" algn="just">
              <a:buFont typeface="Arial" panose="020B0604020202020204" pitchFamily="34" charset="0"/>
              <a:buChar char="•"/>
              <a:defRPr/>
            </a:pPr>
            <a:r>
              <a:rPr lang="en-US" sz="1600" dirty="0">
                <a:latin typeface="Calibri"/>
                <a:ea typeface="Calibri"/>
                <a:cs typeface="Calibri"/>
              </a:rPr>
              <a:t>Migrated existing automation suites from Selenium to Playwright (Python) for improved performance and maintainability.</a:t>
            </a:r>
          </a:p>
          <a:p>
            <a:pPr marL="285750" indent="-285750" algn="just">
              <a:buFont typeface="Arial" panose="020B0604020202020204" pitchFamily="34" charset="0"/>
              <a:buChar char="•"/>
              <a:defRPr/>
            </a:pPr>
            <a:r>
              <a:rPr lang="en-US" sz="1600" dirty="0">
                <a:latin typeface="Calibri"/>
                <a:ea typeface="Calibri"/>
                <a:cs typeface="Calibri"/>
              </a:rPr>
              <a:t>Performed functional, integration, system, and regression testing for large-scale master data workflows.</a:t>
            </a:r>
          </a:p>
          <a:p>
            <a:pPr marL="285750" indent="-285750" algn="just">
              <a:buFont typeface="Arial" panose="020B0604020202020204" pitchFamily="34" charset="0"/>
              <a:buChar char="•"/>
              <a:defRPr/>
            </a:pPr>
            <a:r>
              <a:rPr lang="en-US" sz="1600" dirty="0">
                <a:latin typeface="Calibri"/>
                <a:ea typeface="Calibri"/>
                <a:cs typeface="Calibri"/>
              </a:rPr>
              <a:t>Validated RESTful APIs using Postman and integrated API tests into CI pipelines using Jenkins.</a:t>
            </a:r>
          </a:p>
          <a:p>
            <a:pPr marL="285750" indent="-285750" algn="just">
              <a:buFont typeface="Arial" panose="020B0604020202020204" pitchFamily="34" charset="0"/>
              <a:buChar char="•"/>
              <a:defRPr/>
            </a:pPr>
            <a:r>
              <a:rPr lang="en-US" sz="1600" dirty="0">
                <a:latin typeface="Calibri"/>
                <a:ea typeface="Calibri"/>
                <a:cs typeface="Calibri"/>
              </a:rPr>
              <a:t>Monitored and </a:t>
            </a:r>
            <a:r>
              <a:rPr lang="en-US" sz="1600" dirty="0" err="1">
                <a:latin typeface="Calibri"/>
                <a:ea typeface="Calibri"/>
                <a:cs typeface="Calibri"/>
              </a:rPr>
              <a:t>analysed</a:t>
            </a:r>
            <a:r>
              <a:rPr lang="en-US" sz="1600" dirty="0">
                <a:latin typeface="Calibri"/>
                <a:ea typeface="Calibri"/>
                <a:cs typeface="Calibri"/>
              </a:rPr>
              <a:t> application performance using Splunk and New Relic.</a:t>
            </a:r>
          </a:p>
          <a:p>
            <a:pPr marL="285750" indent="-285750" algn="just">
              <a:buFont typeface="Arial" panose="020B0604020202020204" pitchFamily="34" charset="0"/>
              <a:buChar char="•"/>
              <a:defRPr/>
            </a:pPr>
            <a:r>
              <a:rPr lang="en-US" sz="1600" dirty="0">
                <a:latin typeface="Calibri"/>
                <a:ea typeface="Calibri"/>
                <a:cs typeface="Calibri"/>
              </a:rPr>
              <a:t>Created and executed test plans, test scenarios, and test cases for performance, stress, and power testing.</a:t>
            </a:r>
          </a:p>
          <a:p>
            <a:pPr marL="285750" indent="-285750" algn="just">
              <a:buFont typeface="Arial" panose="020B0604020202020204" pitchFamily="34" charset="0"/>
              <a:buChar char="•"/>
              <a:defRPr/>
            </a:pPr>
            <a:r>
              <a:rPr lang="en-US" sz="1600" dirty="0">
                <a:latin typeface="Calibri"/>
                <a:ea typeface="Calibri"/>
                <a:cs typeface="Calibri"/>
              </a:rPr>
              <a:t>Provided effort estimations for sprint test execution and collaborated with stakeholders on planning.</a:t>
            </a:r>
          </a:p>
          <a:p>
            <a:pPr marL="285750" indent="-285750" algn="just">
              <a:buFont typeface="Arial" panose="020B0604020202020204" pitchFamily="34" charset="0"/>
              <a:buChar char="•"/>
              <a:defRPr/>
            </a:pPr>
            <a:r>
              <a:rPr lang="en-US" sz="1600" dirty="0">
                <a:latin typeface="Calibri"/>
                <a:ea typeface="Calibri"/>
                <a:cs typeface="Calibri"/>
              </a:rPr>
              <a:t>Reviewed and approved code changes in Gerrit, resolving merge conflicts where necessary.</a:t>
            </a:r>
          </a:p>
          <a:p>
            <a:pPr marL="285750" indent="-285750" algn="just">
              <a:buFont typeface="Arial" panose="020B0604020202020204" pitchFamily="34" charset="0"/>
              <a:buChar char="•"/>
              <a:defRPr/>
            </a:pPr>
            <a:r>
              <a:rPr lang="en-US" sz="1600" dirty="0">
                <a:latin typeface="Calibri"/>
                <a:ea typeface="Calibri"/>
                <a:cs typeface="Calibri"/>
              </a:rPr>
              <a:t>Logged, tracked, and verified defects in JIRA, ensuring timely resolution.</a:t>
            </a:r>
          </a:p>
          <a:p>
            <a:pPr marL="285750" indent="-285750" algn="just">
              <a:buFont typeface="Arial" panose="020B0604020202020204" pitchFamily="34" charset="0"/>
              <a:buChar char="•"/>
              <a:defRPr/>
            </a:pPr>
            <a:r>
              <a:rPr lang="en-US" sz="1600" dirty="0">
                <a:latin typeface="Calibri"/>
                <a:ea typeface="Calibri"/>
                <a:cs typeface="Calibri"/>
              </a:rPr>
              <a:t>Collaborated with cross-functional teams and actively participated in Agile ceremonies (daily standups, sprint planning, retrospectives).</a:t>
            </a:r>
          </a:p>
        </p:txBody>
      </p:sp>
      <p:sp>
        <p:nvSpPr>
          <p:cNvPr id="12" name="TextBox 11">
            <a:extLst>
              <a:ext uri="{FF2B5EF4-FFF2-40B4-BE49-F238E27FC236}">
                <a16:creationId xmlns:a16="http://schemas.microsoft.com/office/drawing/2014/main" id="{69E9817A-6332-5EC4-B2D4-E14B5EBDD257}"/>
              </a:ext>
            </a:extLst>
          </p:cNvPr>
          <p:cNvSpPr txBox="1"/>
          <p:nvPr/>
        </p:nvSpPr>
        <p:spPr>
          <a:xfrm>
            <a:off x="304800" y="1510628"/>
            <a:ext cx="13411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effectLst/>
                <a:uLnTx/>
                <a:uFillTx/>
                <a:latin typeface="Calibri"/>
                <a:ea typeface="Calibri"/>
                <a:cs typeface="Calibri"/>
              </a:rPr>
              <a:t>D</a:t>
            </a:r>
            <a:r>
              <a:rPr kumimoji="0" lang="en-IN" b="1" i="0" u="none" strike="noStrike" kern="1200" cap="none" spc="0" normalizeH="0" baseline="0" noProof="0" dirty="0">
                <a:ln>
                  <a:noFill/>
                </a:ln>
                <a:effectLst/>
                <a:uLnTx/>
                <a:uFillTx/>
                <a:latin typeface="Calibri"/>
                <a:ea typeface="Calibri"/>
                <a:cs typeface="Calibri"/>
              </a:rPr>
              <a:t>escription:</a:t>
            </a:r>
          </a:p>
        </p:txBody>
      </p:sp>
      <p:sp>
        <p:nvSpPr>
          <p:cNvPr id="14" name="TextBox 13">
            <a:extLst>
              <a:ext uri="{FF2B5EF4-FFF2-40B4-BE49-F238E27FC236}">
                <a16:creationId xmlns:a16="http://schemas.microsoft.com/office/drawing/2014/main" id="{7FA4A957-BEDD-F60C-ADA6-86EB8E004333}"/>
              </a:ext>
            </a:extLst>
          </p:cNvPr>
          <p:cNvSpPr txBox="1"/>
          <p:nvPr/>
        </p:nvSpPr>
        <p:spPr>
          <a:xfrm>
            <a:off x="304800" y="278283"/>
            <a:ext cx="1734312"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2060"/>
                </a:solidFill>
                <a:effectLst/>
                <a:uLnTx/>
                <a:uFillTx/>
                <a:latin typeface="Calibri"/>
                <a:ea typeface="Calibri"/>
                <a:cs typeface="Calibri"/>
              </a:rPr>
              <a:t>Project </a:t>
            </a:r>
            <a:r>
              <a:rPr lang="en-US" b="1">
                <a:solidFill>
                  <a:srgbClr val="002060"/>
                </a:solidFill>
                <a:latin typeface="Calibri"/>
                <a:ea typeface="Calibri"/>
                <a:cs typeface="Calibri"/>
              </a:rPr>
              <a:t>3</a:t>
            </a:r>
            <a:endParaRPr kumimoji="0" lang="en-US" b="0" i="0" u="none" strike="noStrike" kern="1200" cap="none" spc="0" normalizeH="0" baseline="0" noProof="0">
              <a:ln>
                <a:noFill/>
              </a:ln>
              <a:solidFill>
                <a:srgbClr val="002060"/>
              </a:solidFill>
              <a:effectLst/>
              <a:uLnTx/>
              <a:uFillTx/>
              <a:latin typeface="Calibri"/>
              <a:ea typeface="Calibri"/>
              <a:cs typeface="Calibri"/>
            </a:endParaRPr>
          </a:p>
        </p:txBody>
      </p:sp>
      <p:pic>
        <p:nvPicPr>
          <p:cNvPr id="3" name="Picture 2">
            <a:extLst>
              <a:ext uri="{FF2B5EF4-FFF2-40B4-BE49-F238E27FC236}">
                <a16:creationId xmlns:a16="http://schemas.microsoft.com/office/drawing/2014/main" id="{089CF080-0376-3553-A31B-5AEDF3C651BE}"/>
              </a:ext>
            </a:extLst>
          </p:cNvPr>
          <p:cNvPicPr>
            <a:picLocks noChangeAspect="1"/>
          </p:cNvPicPr>
          <p:nvPr/>
        </p:nvPicPr>
        <p:blipFill>
          <a:blip r:embed="rId3">
            <a:biLevel thresh="25000"/>
          </a:blip>
          <a:stretch>
            <a:fillRect/>
          </a:stretch>
        </p:blipFill>
        <p:spPr>
          <a:xfrm>
            <a:off x="9940412" y="123053"/>
            <a:ext cx="2066530" cy="587639"/>
          </a:xfrm>
          <a:prstGeom prst="rect">
            <a:avLst/>
          </a:prstGeom>
          <a:solidFill>
            <a:schemeClr val="bg1"/>
          </a:solidFill>
        </p:spPr>
      </p:pic>
    </p:spTree>
    <p:extLst>
      <p:ext uri="{BB962C8B-B14F-4D97-AF65-F5344CB8AC3E}">
        <p14:creationId xmlns:p14="http://schemas.microsoft.com/office/powerpoint/2010/main" val="2512149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D0BE6B-9BA5-1D77-5855-DA1A7E43414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9E39533-D777-E8D1-6568-C653AB3CDB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EF36EC-AB1E-4C9F-83A1-C938ECB7FC5C}" type="slidenum">
              <a:rPr kumimoji="0" lang="en-IN" sz="1400" b="0" i="0" u="none" strike="noStrike" kern="1200" cap="none" spc="0" normalizeH="0" baseline="0" noProof="0" smtClean="0">
                <a:ln>
                  <a:noFill/>
                </a:ln>
                <a:solidFill>
                  <a:prstClr val="black">
                    <a:tint val="82000"/>
                  </a:prstClr>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400" b="0" i="0" u="none" strike="noStrike" kern="1200" cap="none" spc="0" normalizeH="0" baseline="0" noProof="0" dirty="0">
              <a:ln>
                <a:noFill/>
              </a:ln>
              <a:solidFill>
                <a:prstClr val="black">
                  <a:tint val="82000"/>
                </a:prstClr>
              </a:solidFill>
              <a:effectLst/>
              <a:uLnTx/>
              <a:uFillTx/>
              <a:latin typeface="Calibri"/>
              <a:ea typeface="Calibri"/>
              <a:cs typeface="Calibri"/>
            </a:endParaRPr>
          </a:p>
        </p:txBody>
      </p:sp>
      <p:sp>
        <p:nvSpPr>
          <p:cNvPr id="7" name="TextBox 6">
            <a:extLst>
              <a:ext uri="{FF2B5EF4-FFF2-40B4-BE49-F238E27FC236}">
                <a16:creationId xmlns:a16="http://schemas.microsoft.com/office/drawing/2014/main" id="{BB11E5DD-4B91-F731-B9FD-DC124FACD3DD}"/>
              </a:ext>
            </a:extLst>
          </p:cNvPr>
          <p:cNvSpPr txBox="1"/>
          <p:nvPr/>
        </p:nvSpPr>
        <p:spPr>
          <a:xfrm>
            <a:off x="304800" y="696071"/>
            <a:ext cx="9954892" cy="923330"/>
          </a:xfrm>
          <a:prstGeom prst="rect">
            <a:avLst/>
          </a:prstGeom>
          <a:noFill/>
        </p:spPr>
        <p:txBody>
          <a:bodyPr wrap="square" lIns="91440" tIns="45720" rIns="91440" bIns="45720" anchor="t">
            <a:spAutoFit/>
          </a:bodyPr>
          <a:lstStyle/>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Project:</a:t>
            </a:r>
            <a:r>
              <a:rPr lang="en-US" b="1" dirty="0">
                <a:solidFill>
                  <a:prstClr val="black"/>
                </a:solidFill>
                <a:latin typeface="Calibri"/>
                <a:ea typeface="Calibri"/>
                <a:cs typeface="Calibri"/>
              </a:rPr>
              <a:t> </a:t>
            </a:r>
            <a:r>
              <a:rPr lang="en-US" b="1" dirty="0">
                <a:solidFill>
                  <a:prstClr val="black"/>
                </a:solidFill>
                <a:latin typeface="Calibri"/>
                <a:ea typeface="Calibri"/>
                <a:cs typeface="Segoe UI"/>
              </a:rPr>
              <a:t>Hitachi Rail</a:t>
            </a:r>
            <a:endParaRPr lang="en-US" b="1" i="0" u="none" strike="noStrike" kern="1200" cap="none" spc="0" normalizeH="0" baseline="0" noProof="0" dirty="0">
              <a:ln>
                <a:noFill/>
              </a:ln>
              <a:solidFill>
                <a:prstClr val="black"/>
              </a:solidFill>
              <a:effectLst/>
              <a:uLnTx/>
              <a:uFillTx/>
              <a:latin typeface="Calibri"/>
              <a:ea typeface="Calibri"/>
              <a:cs typeface="Calibri"/>
            </a:endParaRPr>
          </a:p>
          <a:p>
            <a:pPr>
              <a:defRPr/>
            </a:pPr>
            <a:r>
              <a:rPr kumimoji="0" lang="en-US" b="1" i="0" u="none" strike="noStrike" kern="1200" cap="none" spc="0" normalizeH="0" baseline="0" noProof="0" dirty="0">
                <a:ln>
                  <a:noFill/>
                </a:ln>
                <a:solidFill>
                  <a:prstClr val="black"/>
                </a:solidFill>
                <a:effectLst/>
                <a:uLnTx/>
                <a:uFillTx/>
                <a:latin typeface="Calibri"/>
                <a:ea typeface="Calibri"/>
                <a:cs typeface="Calibri"/>
              </a:rPr>
              <a:t>Duration : </a:t>
            </a:r>
            <a:r>
              <a:rPr lang="en-US" b="1" dirty="0">
                <a:solidFill>
                  <a:prstClr val="black"/>
                </a:solidFill>
                <a:latin typeface="Calibri"/>
                <a:ea typeface="+mn-lt"/>
                <a:cs typeface="+mn-lt"/>
              </a:rPr>
              <a:t>Jan’2020 – Dec’2021</a:t>
            </a:r>
          </a:p>
          <a:p>
            <a:pPr>
              <a:defRPr/>
            </a:pPr>
            <a:r>
              <a:rPr lang="en-US" b="1" i="0" u="none" strike="noStrike" kern="1200" cap="none" spc="0" normalizeH="0" baseline="0" noProof="0" dirty="0">
                <a:ln>
                  <a:noFill/>
                </a:ln>
                <a:solidFill>
                  <a:prstClr val="black"/>
                </a:solidFill>
                <a:effectLst/>
                <a:uLnTx/>
                <a:uFillTx/>
                <a:latin typeface="Calibri"/>
                <a:ea typeface="+mn-lt"/>
                <a:cs typeface="+mn-lt"/>
              </a:rPr>
              <a:t>Role: Associate consultant</a:t>
            </a:r>
          </a:p>
        </p:txBody>
      </p:sp>
      <p:sp>
        <p:nvSpPr>
          <p:cNvPr id="11" name="TextBox 10">
            <a:extLst>
              <a:ext uri="{FF2B5EF4-FFF2-40B4-BE49-F238E27FC236}">
                <a16:creationId xmlns:a16="http://schemas.microsoft.com/office/drawing/2014/main" id="{B7FE0190-4CB5-2F4F-C984-D5C304ED4B0A}"/>
              </a:ext>
            </a:extLst>
          </p:cNvPr>
          <p:cNvSpPr txBox="1"/>
          <p:nvPr/>
        </p:nvSpPr>
        <p:spPr>
          <a:xfrm>
            <a:off x="304800" y="1995279"/>
            <a:ext cx="11734800" cy="4478149"/>
          </a:xfrm>
          <a:prstGeom prst="rect">
            <a:avLst/>
          </a:prstGeom>
          <a:noFill/>
        </p:spPr>
        <p:txBody>
          <a:bodyPr wrap="square" lIns="91440" tIns="45720" rIns="91440" bIns="45720" anchor="t">
            <a:spAutoFit/>
          </a:bodyPr>
          <a:lstStyle/>
          <a:p>
            <a:pPr algn="just" fontAlgn="base" hangingPunct="0">
              <a:defRPr/>
            </a:pPr>
            <a:r>
              <a:rPr kumimoji="0" lang="en-US" sz="1500" b="1" i="0" u="none" strike="noStrike" kern="1200" cap="none" spc="0" normalizeH="0" baseline="0" noProof="0" dirty="0">
                <a:ln>
                  <a:noFill/>
                </a:ln>
                <a:solidFill>
                  <a:prstClr val="black"/>
                </a:solidFill>
                <a:effectLst/>
                <a:uLnTx/>
                <a:uFillTx/>
                <a:latin typeface="Calibri"/>
                <a:ea typeface="Calibri"/>
                <a:cs typeface="Calibri"/>
              </a:rPr>
              <a:t>Project Overview</a:t>
            </a:r>
            <a:r>
              <a:rPr kumimoji="0" lang="en-US" sz="1500" b="0" i="0" u="none" strike="noStrike" kern="1200" cap="none" spc="0" normalizeH="0" baseline="0" noProof="0" dirty="0">
                <a:ln>
                  <a:noFill/>
                </a:ln>
                <a:solidFill>
                  <a:prstClr val="black"/>
                </a:solidFill>
                <a:effectLst/>
                <a:uLnTx/>
                <a:uFillTx/>
                <a:latin typeface="Calibri"/>
                <a:ea typeface="Calibri"/>
                <a:cs typeface="Calibri"/>
              </a:rPr>
              <a:t>: </a:t>
            </a:r>
            <a:r>
              <a:rPr lang="en-US" sz="1500" dirty="0">
                <a:solidFill>
                  <a:prstClr val="black"/>
                </a:solidFill>
                <a:latin typeface="Calibri"/>
                <a:ea typeface="+mn-lt"/>
                <a:cs typeface="+mn-lt"/>
              </a:rPr>
              <a:t>This is a Metro Rail project, main objective of this project is to develop solutions that enhance safety, real-time monitoring, real-time updates for train locations, passenger information for different metro rail operations. Mostly worked in ATS and CBC. ATS gets information from various external interfaces and displays on ATS screen. Worked on ATS with Modbus, FLDC, SCADA, PSIS simulators which helps for managing platform screen doors, fleet data collection, information about traction power, routing, vehicle regulations and passenger information etc.</a:t>
            </a:r>
          </a:p>
          <a:p>
            <a:pPr algn="just">
              <a:defRPr/>
            </a:pPr>
            <a:endParaRPr lang="en-US" sz="1500" dirty="0">
              <a:solidFill>
                <a:prstClr val="black"/>
              </a:solidFill>
              <a:latin typeface="Calibri"/>
              <a:ea typeface="Calibri"/>
              <a:cs typeface="Calibri"/>
            </a:endParaRPr>
          </a:p>
          <a:p>
            <a:pPr marL="0" marR="0" lvl="0" indent="0" algn="just" defTabSz="914400" rtl="0" eaLnBrk="1" fontAlgn="base" latinLnBrk="0" hangingPunct="0">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Calibri"/>
                <a:ea typeface="Calibri"/>
                <a:cs typeface="Calibri"/>
              </a:rPr>
              <a:t>Responsibilities</a:t>
            </a:r>
            <a:r>
              <a:rPr kumimoji="0" lang="en-US" sz="1500" b="0" i="0" u="none" strike="noStrike" kern="1200" cap="none" spc="0" normalizeH="0" baseline="0" noProof="0" dirty="0">
                <a:ln>
                  <a:noFill/>
                </a:ln>
                <a:solidFill>
                  <a:prstClr val="black"/>
                </a:solidFill>
                <a:effectLst/>
                <a:uLnTx/>
                <a:uFillTx/>
                <a:latin typeface="Calibri"/>
                <a:ea typeface="Calibri"/>
                <a:cs typeface="Calibri"/>
              </a:rPr>
              <a:t>: </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Performed functional testing of IP address management solutions with multi-grid capabilities.</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Validated features such as Network Discovery and integration with Microsoft DNS/DHCP.</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Logged and tracked defects in JIRA, ensuring prompt resolution.</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Executed tests in Linux environments for feature validation and defect verification.</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err="1">
                <a:ln>
                  <a:noFill/>
                </a:ln>
                <a:effectLst/>
                <a:uLnTx/>
                <a:uFillTx/>
                <a:latin typeface="Calibri"/>
                <a:ea typeface="Calibri"/>
                <a:cs typeface="Calibri"/>
              </a:rPr>
              <a:t>Analysed</a:t>
            </a:r>
            <a:r>
              <a:rPr lang="en-US" sz="1500" b="0" i="0" u="none" strike="noStrike" kern="1200" cap="none" spc="0" normalizeH="0" baseline="0" noProof="0" dirty="0">
                <a:ln>
                  <a:noFill/>
                </a:ln>
                <a:effectLst/>
                <a:uLnTx/>
                <a:uFillTx/>
                <a:latin typeface="Calibri"/>
                <a:ea typeface="Calibri"/>
                <a:cs typeface="Calibri"/>
              </a:rPr>
              <a:t> user stories and implemented functionality in alignment with story points.</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Designed and executed automation scripts using Selenium WebDriver, </a:t>
            </a:r>
            <a:r>
              <a:rPr lang="en-US" sz="1500" b="0" i="0" u="none" strike="noStrike" kern="1200" cap="none" spc="0" normalizeH="0" baseline="0" noProof="0" dirty="0" err="1">
                <a:ln>
                  <a:noFill/>
                </a:ln>
                <a:effectLst/>
                <a:uLnTx/>
                <a:uFillTx/>
                <a:latin typeface="Calibri"/>
                <a:ea typeface="Calibri"/>
                <a:cs typeface="Calibri"/>
              </a:rPr>
              <a:t>Pytest</a:t>
            </a:r>
            <a:r>
              <a:rPr lang="en-US" sz="1500" b="0" i="0" u="none" strike="noStrike" kern="1200" cap="none" spc="0" normalizeH="0" baseline="0" noProof="0" dirty="0">
                <a:ln>
                  <a:noFill/>
                </a:ln>
                <a:effectLst/>
                <a:uLnTx/>
                <a:uFillTx/>
                <a:latin typeface="Calibri"/>
                <a:ea typeface="Calibri"/>
                <a:cs typeface="Calibri"/>
              </a:rPr>
              <a:t>, and Python, following a Hybrid Framework with Data-Driven and Page Object Model (POM) approaches.</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Conducted failure analysis for regression test results and prepared detailed reports.</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Reported, tracked, and verified defects in JIRA, coordinating closely with the development team.</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Executed batch test runs in Jenkins and communicated results to management.</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Collaborated with developers and stakeholders to clarify requirements for testability, consistency, and completeness.</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Actively participated in Agile ceremonies including daily stand-up’s, story grooming,</a:t>
            </a:r>
          </a:p>
          <a:p>
            <a:pPr marL="285750" marR="0" lvl="0" indent="-285750" algn="just" defTabSz="914400" rtl="0" eaLnBrk="1" fontAlgn="base" latinLnBrk="0" hangingPunct="0">
              <a:lnSpc>
                <a:spcPct val="100000"/>
              </a:lnSpc>
              <a:spcBef>
                <a:spcPts val="0"/>
              </a:spcBef>
              <a:spcAft>
                <a:spcPts val="0"/>
              </a:spcAft>
              <a:buClrTx/>
              <a:buSzTx/>
              <a:buFont typeface="Arial" panose="020B0604020202020204" pitchFamily="34" charset="0"/>
              <a:buChar char="•"/>
              <a:tabLst/>
              <a:defRPr/>
            </a:pPr>
            <a:r>
              <a:rPr lang="en-US" sz="1500" b="0" i="0" u="none" strike="noStrike" kern="1200" cap="none" spc="0" normalizeH="0" baseline="0" noProof="0" dirty="0">
                <a:ln>
                  <a:noFill/>
                </a:ln>
                <a:effectLst/>
                <a:uLnTx/>
                <a:uFillTx/>
                <a:latin typeface="Calibri"/>
                <a:ea typeface="Calibri"/>
                <a:cs typeface="Calibri"/>
              </a:rPr>
              <a:t>retrospectives, and process improvement initiatives.</a:t>
            </a:r>
          </a:p>
        </p:txBody>
      </p:sp>
      <p:sp>
        <p:nvSpPr>
          <p:cNvPr id="12" name="TextBox 11">
            <a:extLst>
              <a:ext uri="{FF2B5EF4-FFF2-40B4-BE49-F238E27FC236}">
                <a16:creationId xmlns:a16="http://schemas.microsoft.com/office/drawing/2014/main" id="{19720054-5A3B-212F-B9D3-BD19B3C4FC12}"/>
              </a:ext>
            </a:extLst>
          </p:cNvPr>
          <p:cNvSpPr txBox="1"/>
          <p:nvPr/>
        </p:nvSpPr>
        <p:spPr>
          <a:xfrm>
            <a:off x="304800" y="1588014"/>
            <a:ext cx="121616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Calibri"/>
                <a:ea typeface="Calibri"/>
                <a:cs typeface="Calibri"/>
              </a:rPr>
              <a:t>D</a:t>
            </a:r>
            <a:r>
              <a:rPr kumimoji="0" lang="en-IN" sz="1600" b="1" i="0" u="none" strike="noStrike" kern="1200" cap="none" spc="0" normalizeH="0" baseline="0" noProof="0" dirty="0">
                <a:ln>
                  <a:noFill/>
                </a:ln>
                <a:solidFill>
                  <a:srgbClr val="002060"/>
                </a:solidFill>
                <a:effectLst/>
                <a:uLnTx/>
                <a:uFillTx/>
                <a:latin typeface="Calibri"/>
                <a:ea typeface="Calibri"/>
                <a:cs typeface="Calibri"/>
              </a:rPr>
              <a:t>escription:</a:t>
            </a:r>
          </a:p>
        </p:txBody>
      </p:sp>
      <p:sp>
        <p:nvSpPr>
          <p:cNvPr id="14" name="TextBox 13">
            <a:extLst>
              <a:ext uri="{FF2B5EF4-FFF2-40B4-BE49-F238E27FC236}">
                <a16:creationId xmlns:a16="http://schemas.microsoft.com/office/drawing/2014/main" id="{CB36D734-3700-F0BC-46F5-7626E61D151F}"/>
              </a:ext>
            </a:extLst>
          </p:cNvPr>
          <p:cNvSpPr txBox="1"/>
          <p:nvPr/>
        </p:nvSpPr>
        <p:spPr>
          <a:xfrm>
            <a:off x="304800" y="278283"/>
            <a:ext cx="1734312"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2060"/>
                </a:solidFill>
                <a:effectLst/>
                <a:uLnTx/>
                <a:uFillTx/>
                <a:latin typeface="Calibri"/>
                <a:ea typeface="Calibri"/>
                <a:cs typeface="Calibri"/>
              </a:rPr>
              <a:t>Project </a:t>
            </a:r>
            <a:r>
              <a:rPr lang="en-US" b="1">
                <a:solidFill>
                  <a:srgbClr val="002060"/>
                </a:solidFill>
                <a:latin typeface="Calibri"/>
                <a:ea typeface="Calibri"/>
                <a:cs typeface="Calibri"/>
              </a:rPr>
              <a:t>4</a:t>
            </a:r>
            <a:endParaRPr kumimoji="0" lang="en-US" b="0" i="0" u="none" strike="noStrike" kern="1200" cap="none" spc="0" normalizeH="0" baseline="0" noProof="0">
              <a:ln>
                <a:noFill/>
              </a:ln>
              <a:solidFill>
                <a:srgbClr val="002060"/>
              </a:solidFill>
              <a:effectLst/>
              <a:uLnTx/>
              <a:uFillTx/>
              <a:latin typeface="Calibri"/>
              <a:ea typeface="Calibri"/>
              <a:cs typeface="Calibri"/>
            </a:endParaRPr>
          </a:p>
        </p:txBody>
      </p:sp>
      <p:pic>
        <p:nvPicPr>
          <p:cNvPr id="10" name="Picture 9">
            <a:extLst>
              <a:ext uri="{FF2B5EF4-FFF2-40B4-BE49-F238E27FC236}">
                <a16:creationId xmlns:a16="http://schemas.microsoft.com/office/drawing/2014/main" id="{75977308-28D1-4B39-8C9C-977D2A6A28DD}"/>
              </a:ext>
            </a:extLst>
          </p:cNvPr>
          <p:cNvPicPr>
            <a:picLocks noChangeAspect="1"/>
          </p:cNvPicPr>
          <p:nvPr/>
        </p:nvPicPr>
        <p:blipFill>
          <a:blip r:embed="rId2">
            <a:biLevel thresh="25000"/>
          </a:blip>
          <a:stretch>
            <a:fillRect/>
          </a:stretch>
        </p:blipFill>
        <p:spPr>
          <a:xfrm>
            <a:off x="9973070" y="136525"/>
            <a:ext cx="2066530" cy="587639"/>
          </a:xfrm>
          <a:prstGeom prst="rect">
            <a:avLst/>
          </a:prstGeom>
          <a:solidFill>
            <a:schemeClr val="bg1"/>
          </a:solidFill>
        </p:spPr>
      </p:pic>
    </p:spTree>
    <p:extLst>
      <p:ext uri="{BB962C8B-B14F-4D97-AF65-F5344CB8AC3E}">
        <p14:creationId xmlns:p14="http://schemas.microsoft.com/office/powerpoint/2010/main" val="88817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TotalTime>
  <Words>1390</Words>
  <Application>Microsoft Office PowerPoint</Application>
  <PresentationFormat>Widescreen</PresentationFormat>
  <Paragraphs>107</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 Krishna Madala</dc:creator>
  <cp:lastModifiedBy>Manoj Krishna Madala</cp:lastModifiedBy>
  <cp:revision>289</cp:revision>
  <dcterms:created xsi:type="dcterms:W3CDTF">2025-08-06T11:24:47Z</dcterms:created>
  <dcterms:modified xsi:type="dcterms:W3CDTF">2026-02-16T13:44:20Z</dcterms:modified>
</cp:coreProperties>
</file>